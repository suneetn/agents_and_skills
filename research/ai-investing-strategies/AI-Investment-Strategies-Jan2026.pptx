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6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Playing the AI Tidal Wave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Strategies for the AI Revolution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January 2026 | Research Report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36%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Projected Annual AI Growth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(Next 8 Years)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28016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Multiple entry points across the AI value chain</a:t>
            </a:r>
            <a:endParaRPr lang="en-US" sz="2000" dirty="0"/>
          </a:p>
          <a:p>
            <a:pPr marL="342900" indent="-342900"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Semiconductors → Infrastructure → Software &amp; Services</a:t>
            </a:r>
            <a:endParaRPr lang="en-US" sz="2000" dirty="0"/>
          </a:p>
          <a:p>
            <a:pPr marL="342900" indent="-342900"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ETFs provide diversified exposure with lower risk</a:t>
            </a:r>
            <a:endParaRPr lang="en-US" sz="2000" dirty="0"/>
          </a:p>
          <a:p>
            <a:pPr marL="342900" indent="-342900"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"Picks and shovels" approach offers compelling risk/reward</a:t>
            </a:r>
            <a:endParaRPr lang="en-US" sz="2000" dirty="0"/>
          </a:p>
          <a:p>
            <a:pPr marL="342900" indent="-342900"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Power utilities are an underappreciated AI play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AI Investment Landscape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Understanding the AI Value Chain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AI Growth Cycle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645920"/>
          </a:xfrm>
          <a:prstGeom prst="rect">
            <a:avLst/>
          </a:prstGeom>
          <a:solidFill>
            <a:srgbClr val="0A5C36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Semiconductors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Mature + Growing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560320" cy="1645920"/>
          </a:xfrm>
          <a:prstGeom prst="rect">
            <a:avLst/>
          </a:prstGeom>
          <a:solidFill>
            <a:srgbClr val="236C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Accelerating Now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2560320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Software &amp; Services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Early Innings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NVDA, AMD, AVGO, TSM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Data Centers, Power, Networking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PLTR, CRM, NOW, AI Apps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8F1FF"/>
          </a:solidFill>
          <a:ln w="12700">
            <a:solidFill>
              <a:srgbClr val="C4D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💡 Key Insight: We're currently in the infrastructure phase, with software/services just beginning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Approaches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Stocks, ETFs, and Strategic Frameworks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Hardware Leaders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Tier 1: The "Shovels" of the AI Gold Rush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914400"/>
                <a:gridCol w="9144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Stock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Ticker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12M Upside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Key Thesis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NVIDIA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NVDA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$188.85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+23%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92% GPU market share, Blackwell sold out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AMD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AMD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~$120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+48%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Growing alternative, MI350/MI400 chips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Broadcom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AVGO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~$175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AI infrastructure, custom chips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TSMC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TSM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~$175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+12%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Foundry dominance, makes chips for all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ASML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ASML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~$700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+24%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Only maker of advanced lithography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Platforms &amp; Software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Cloud &amp; Platform Giants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Microsoft (MSFT) - Azure AI, OpenAI partnership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Alphabet (GOOGL) - Gemini, Cloud AI, P/E: 23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Amazon (AMZN) - AWS Bedrock leader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Meta (META) - AI ads, Llama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Software Leaders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4630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Palantir (PLTR) - +20% growth, enterprise AI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Salesforce (CRM) - Einstein AI integration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ServiceNow (NOW) - AI workflow automation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Snowflake (SNOW) - AI data cloud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E8F1FF"/>
          </a:solidFill>
          <a:ln w="12700">
            <a:solidFill>
              <a:srgbClr val="C4D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🔌 Often Overlooked: Power &amp; Infrastructure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Vistra (VST) +45% | Constellation Energy (CEG) +40% | Arista Networks (ANET) +50% | Vertiv (VRT) +80%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Nuclear utilities provide consistent, zero-emission power for AI data centers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ETF Strategies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Diversified Exposure to AI Growth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ETF Portfolio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  <a:gridCol w="822960"/>
                <a:gridCol w="822960"/>
                <a:gridCol w="310896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ETF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Symbol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Weight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Exp. Ratio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1Y Return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Focus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VanEck Semiconductor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SMH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30%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0.35%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+39%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Chip makers (NVDA 20%)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NASDAQ 100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QQQ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0.20%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+25%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Tech foundation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Roundhill Gen AI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CHAT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0.75%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+35%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Pure-play generative AI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S&amp;P 500 Momentum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SPMO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0.13%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+38%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Risk-adjusted winners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Utilities (Nuclear)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UTES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0.49%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+45%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AI power infrastructure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Portfolio Allocation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4023360"/>
            <a:ext cx="1188720" cy="27432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SMH 30%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0" y="4023360"/>
            <a:ext cx="1188720" cy="274320"/>
          </a:xfrm>
          <a:prstGeom prst="rect">
            <a:avLst/>
          </a:prstGeom>
          <a:solidFill>
            <a:srgbClr val="1A3D5C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QQQ 25%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4023360"/>
            <a:ext cx="1188720" cy="27432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CHAT 20%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4023360"/>
            <a:ext cx="118872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SPMO 15%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4023360"/>
            <a:ext cx="118872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UTES 10%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Alternative ETF Options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ETF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Symbol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Exp. Ratio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Holdings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Focus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Global X AI &amp; Tech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AIQ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0.68%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85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Broad AI, includes Asian tech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ARK Autonomous Tech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ARKQ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0.75%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35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Robotics, autonomous vehicles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ROBO Global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ROBO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0.95%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80+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Global robotics &amp; automation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iShares Robotics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IRBO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0.47%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100+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Equal-weighted exposure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Vanguard IT Index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VGT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0.10%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350+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Lowest cost, broad tech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Defiance Quantum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QTUM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0.40%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Quantum computing + AI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CC4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⚠️ Watch for Overlap: VGT &amp; QQQ overlap 99% - choose one, not both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Strategic Approaches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Portfolio Frameworks by Risk Profile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Portfolio Strategies by Risk Tolerance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Conservative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AI: 25-35%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5603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40% S&amp;P 500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25% NASDAQ 100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10-15% SMH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5-10% 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82296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Moderate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AI: 50-60%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5603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40% QQQ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SMH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15% CHAT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15% Individual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10% Infrastructure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2560320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Aggressive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AI: 80-100%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2011680"/>
            <a:ext cx="25603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30% SMH + NVDA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25% CHAT + PLTR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15% Infrastructure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10% QTUM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Risk Assessment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Understanding and Managing AI Investment Risks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Risks to Monitor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📉 Valuation Risk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NVDA P/E ~65, sector premiums leave room for pullbacks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⚔️ Competition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AMD, Intel, custom chips from Google/Amazon challenge NVDA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⚖️ Regulatory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Government AI regulations could slow adoption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⚡ Energy Constraints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Data center power demand may outpace supply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🎯 Concentration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291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Heavy NVDA weighting in many AI funds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Mitigation: Dollar-cost average, diversify across value chain, set position limits, rebalance quarterly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Actionable Recommendations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 for Your Portfolio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Implementation Checklist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☐  Assess current portfolio for existing AI exposure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☐  Determine risk tolerance and appropriate allocation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☐  Choose between individual stocks vs. ETFs vs. hybrid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☐  Set up dollar-cost averaging schedule for new positions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☐  Plan rebalancing frequency (quarterly recommended)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☐  Monitor sector concentration and overlap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☐  Track key AI developments and adjust thesis as needed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Understand the AI value chain: Chips → Infrastructure → Software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Diversify across layers for balanced exposure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ETFs for broad exposure, individual stocks for conviction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Don't ignore "boring" infrastructure plays like utilities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Manage risk through position sizing and regular rebalancing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36% projected annual AI growth = Generational investment opportunity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6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Research conducted January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Full research document: /research/ai-investing-strategies/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Playing the AI Tidal Wave: Investment Strategies</dc:title>
  <dc:subject>AI Investment Research</dc:subject>
  <dc:creator>Research Team</dc:creator>
  <cp:lastModifiedBy>Research Team</cp:lastModifiedBy>
  <cp:revision>1</cp:revision>
  <dcterms:created xsi:type="dcterms:W3CDTF">2026-01-04T06:32:44Z</dcterms:created>
  <dcterms:modified xsi:type="dcterms:W3CDTF">2026-01-04T06:32:44Z</dcterms:modified>
</cp:coreProperties>
</file>