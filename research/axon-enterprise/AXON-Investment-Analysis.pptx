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524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06417" y="1325612"/>
            <a:ext cx="6331166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7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AXON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406417" y="2627263"/>
            <a:ext cx="633116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AXON ENTERPRISE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406417" y="3522613"/>
            <a:ext cx="63311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Investment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43056" y="4438650"/>
            <a:ext cx="11148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3,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3905399" cy="1025426"/>
          </a:xfrm>
          <a:prstGeom prst="roundRect">
            <a:avLst>
              <a:gd name="adj" fmla="val 99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1171277"/>
            <a:ext cx="0" cy="1025426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4650" y="1361777"/>
            <a:ext cx="3517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PRICE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4650" y="1596628"/>
            <a:ext cx="351716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$563.45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7950" y="2387203"/>
            <a:ext cx="3905399" cy="1025426"/>
          </a:xfrm>
          <a:prstGeom prst="roundRect">
            <a:avLst>
              <a:gd name="adj" fmla="val 99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6050" y="2387203"/>
            <a:ext cx="0" cy="1025426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4650" y="2577703"/>
            <a:ext cx="3517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4650" y="2812554"/>
            <a:ext cx="351716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$44.5B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7950" y="3603129"/>
            <a:ext cx="3905399" cy="1025426"/>
          </a:xfrm>
          <a:prstGeom prst="roundRect">
            <a:avLst>
              <a:gd name="adj" fmla="val 99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6050" y="3603129"/>
            <a:ext cx="0" cy="1025426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4650" y="3793629"/>
            <a:ext cx="35171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(2024)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4650" y="4028480"/>
            <a:ext cx="351716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$2.08B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30800" y="1171277"/>
            <a:ext cx="3905399" cy="2160240"/>
          </a:xfrm>
          <a:prstGeom prst="roundRect">
            <a:avLst>
              <a:gd name="adj" fmla="val 470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21300" y="1361777"/>
            <a:ext cx="3594887" cy="311051"/>
          </a:xfrm>
          <a:prstGeom prst="rect">
            <a:avLst/>
          </a:prstGeom>
          <a:noFill/>
          <a:ln/>
        </p:spPr>
        <p:txBody>
          <a:bodyPr wrap="square" lIns="0" tIns="0" rIns="0" bIns="1016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Segments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21300" y="1799779"/>
            <a:ext cx="3524399" cy="1341239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TASER conducted energy devices (95% market share)</a:t>
            </a:r>
            <a:endParaRPr lang="en-US" sz="1100" dirty="0"/>
          </a:p>
          <a:p>
            <a:pPr algn="l" marL="95250" indent="-9525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Body-worn cameras (85% market share)</a:t>
            </a:r>
            <a:endParaRPr lang="en-US" sz="1100" dirty="0"/>
          </a:p>
          <a:p>
            <a:pPr algn="l" marL="95250" indent="-9525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Evidence.com cloud platform</a:t>
            </a:r>
            <a:endParaRPr lang="en-US" sz="1100" dirty="0"/>
          </a:p>
          <a:p>
            <a:pPr algn="l" marL="95250" indent="-9525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Axon Records: AI-powered reporting</a:t>
            </a:r>
            <a:endParaRPr lang="en-US" sz="1100" dirty="0"/>
          </a:p>
          <a:p>
            <a:pPr algn="l" marL="95250" indent="-95250">
              <a:lnSpc>
                <a:spcPts val="176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Axon Dispatch: 911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8675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28600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Performance (FY 2024)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1019175"/>
            <a:ext cx="3983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320701"/>
            <a:ext cx="3905399" cy="822275"/>
          </a:xfrm>
          <a:prstGeom prst="roundRect">
            <a:avLst>
              <a:gd name="adj" fmla="val 12356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473101"/>
            <a:ext cx="36726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60350" y="1666726"/>
            <a:ext cx="367261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+33.4%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7950" y="2269927"/>
            <a:ext cx="3905399" cy="822275"/>
          </a:xfrm>
          <a:prstGeom prst="roundRect">
            <a:avLst>
              <a:gd name="adj" fmla="val 12356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2422327"/>
            <a:ext cx="36726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INCOME GROWTH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0350" y="2615952"/>
            <a:ext cx="367261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+114%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7950" y="3219152"/>
            <a:ext cx="3905399" cy="492026"/>
          </a:xfrm>
          <a:prstGeom prst="roundRect">
            <a:avLst>
              <a:gd name="adj" fmla="val 206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0350" y="3388965"/>
            <a:ext cx="593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05808" y="3346103"/>
            <a:ext cx="66824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$2.08B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950" y="3838129"/>
            <a:ext cx="3905399" cy="492026"/>
          </a:xfrm>
          <a:prstGeom prst="roundRect">
            <a:avLst>
              <a:gd name="adj" fmla="val 206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0350" y="4007941"/>
            <a:ext cx="7678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Income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39592" y="3965079"/>
            <a:ext cx="6337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$377M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0800" y="1019175"/>
            <a:ext cx="3983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30800" y="1320701"/>
            <a:ext cx="3905399" cy="492026"/>
          </a:xfrm>
          <a:prstGeom prst="roundRect">
            <a:avLst>
              <a:gd name="adj" fmla="val 206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83200" y="1490514"/>
            <a:ext cx="9181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77051" y="1447651"/>
            <a:ext cx="4148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30800" y="1939677"/>
            <a:ext cx="3905399" cy="492026"/>
          </a:xfrm>
          <a:prstGeom prst="roundRect">
            <a:avLst>
              <a:gd name="adj" fmla="val 206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83200" y="2109490"/>
            <a:ext cx="3087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07685" y="2066627"/>
            <a:ext cx="5876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30800" y="2558653"/>
            <a:ext cx="3905399" cy="492026"/>
          </a:xfrm>
          <a:prstGeom prst="roundRect">
            <a:avLst>
              <a:gd name="adj" fmla="val 206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83200" y="2728466"/>
            <a:ext cx="3165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20645" y="2685604"/>
            <a:ext cx="47241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30800" y="3177629"/>
            <a:ext cx="39835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Sheet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30800" y="3479155"/>
            <a:ext cx="3905399" cy="492026"/>
          </a:xfrm>
          <a:prstGeom prst="roundRect">
            <a:avLst>
              <a:gd name="adj" fmla="val 206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83200" y="3648968"/>
            <a:ext cx="7913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Debt/Equity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88362" y="3606105"/>
            <a:ext cx="4033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4686449" cy="2903934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98450" y="1779091"/>
            <a:ext cx="430544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1463278"/>
            <a:ext cx="6823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 Ratio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08463" y="1463278"/>
            <a:ext cx="4033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8450" y="2201168"/>
            <a:ext cx="430544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8450" y="1885355"/>
            <a:ext cx="6823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P/S Ratio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59052" y="1885355"/>
            <a:ext cx="4537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21.6x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8450" y="2623245"/>
            <a:ext cx="430544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450" y="2307431"/>
            <a:ext cx="6910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P/B Ratio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59052" y="2307431"/>
            <a:ext cx="4537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8450" y="3045321"/>
            <a:ext cx="430544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450" y="2729508"/>
            <a:ext cx="8291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08463" y="2729508"/>
            <a:ext cx="4033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105x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8450" y="3467398"/>
            <a:ext cx="430544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8450" y="3151584"/>
            <a:ext cx="10164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52-Week High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61408" y="3151584"/>
            <a:ext cx="6553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$885.92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8450" y="3573661"/>
            <a:ext cx="9820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52-Week Low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61408" y="3573661"/>
            <a:ext cx="6553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$469.24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11850" y="1171277"/>
            <a:ext cx="3124200" cy="1082576"/>
          </a:xfrm>
          <a:prstGeom prst="roundRect">
            <a:avLst>
              <a:gd name="adj" fmla="val 9385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74918" y="1361777"/>
            <a:ext cx="27980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 RATIO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74918" y="1596628"/>
            <a:ext cx="27980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1.07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511850" y="2444353"/>
            <a:ext cx="3124200" cy="1555700"/>
          </a:xfrm>
          <a:prstGeom prst="roundRect">
            <a:avLst>
              <a:gd name="adj" fmla="val 6531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702350" y="2634853"/>
            <a:ext cx="27980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Insight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02350" y="2971354"/>
            <a:ext cx="2798064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valuation justified by monopolistic positions, 30%+ growth, and recession-resistant government customers. PEG of 1.07 suggests growth is priced fairly.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3983507" cy="27295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Averages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571179"/>
            <a:ext cx="3905399" cy="9144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1723579"/>
            <a:ext cx="5093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 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13199" y="1723579"/>
            <a:ext cx="10687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$568.98 (Below)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0350" y="1952179"/>
            <a:ext cx="5093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 50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13199" y="1952179"/>
            <a:ext cx="10687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$595.12 (Below)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0350" y="2180779"/>
            <a:ext cx="5885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 200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13199" y="2180779"/>
            <a:ext cx="10687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$680.17 (Below)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950" y="2612529"/>
            <a:ext cx="3983507" cy="27295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950" y="3012430"/>
            <a:ext cx="3905399" cy="6858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0350" y="3164830"/>
            <a:ext cx="5304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RSI (14)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8627" y="3164830"/>
            <a:ext cx="981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42.95 (Neutral)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0350" y="3393430"/>
            <a:ext cx="427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65859" y="3393430"/>
            <a:ext cx="12189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Bullish Crossover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0800" y="1171277"/>
            <a:ext cx="3983507" cy="272951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Support/Resistance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30800" y="1571179"/>
            <a:ext cx="3905399" cy="2027634"/>
          </a:xfrm>
          <a:prstGeom prst="roundRect">
            <a:avLst>
              <a:gd name="adj" fmla="val 50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83200" y="2007543"/>
            <a:ext cx="360059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3200" y="1786979"/>
            <a:ext cx="7919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Resistance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59266" y="1786979"/>
            <a:ext cx="10450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$680 (200 SMA)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83200" y="2296269"/>
            <a:ext cx="360059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3200" y="2075706"/>
            <a:ext cx="7919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Resistance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36954" y="2075706"/>
            <a:ext cx="9657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$595 (50 SMA)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83200" y="2584996"/>
            <a:ext cx="360059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3200" y="2364432"/>
            <a:ext cx="7919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Resistance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73045" y="2364432"/>
            <a:ext cx="3169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83200" y="2873722"/>
            <a:ext cx="360059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3200" y="2653159"/>
            <a:ext cx="4677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78973" y="2653159"/>
            <a:ext cx="5149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$563.45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83200" y="3162449"/>
            <a:ext cx="3600599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3200" y="2941886"/>
            <a:ext cx="6044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73045" y="2941886"/>
            <a:ext cx="3169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83200" y="3230612"/>
            <a:ext cx="6044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73045" y="3230612"/>
            <a:ext cx="3169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30800" y="3598813"/>
            <a:ext cx="3905399" cy="968276"/>
          </a:xfrm>
          <a:prstGeom prst="roundRect">
            <a:avLst>
              <a:gd name="adj" fmla="val 10493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86056" y="3789313"/>
            <a:ext cx="35948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SIGNAL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86056" y="4024164"/>
            <a:ext cx="359488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Catalysts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171277"/>
            <a:ext cx="1841599" cy="3718322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199852"/>
            <a:ext cx="1841599" cy="0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1418927"/>
            <a:ext cx="14898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8450" y="1755428"/>
            <a:ext cx="1489811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First report writing, AI redaction, real-time translation, predictive analytics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8450" y="2567732"/>
            <a:ext cx="148981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$1B+ Opportunity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3450" y="1171277"/>
            <a:ext cx="1841599" cy="3718322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603450" y="1199852"/>
            <a:ext cx="1841599" cy="0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3950" y="1418927"/>
            <a:ext cx="14898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93950" y="1755428"/>
            <a:ext cx="1489811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Europe, UK, Australia growing 40%+. Currently 85%+ US revenue.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93950" y="2390031"/>
            <a:ext cx="148981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$3B+ TAM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98950" y="1171277"/>
            <a:ext cx="1841599" cy="3718322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98950" y="1199852"/>
            <a:ext cx="1841599" cy="0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9450" y="1418927"/>
            <a:ext cx="148981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Contracts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89450" y="1964978"/>
            <a:ext cx="1489811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CBP, Secret Service adoption. Military applications expanding.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89450" y="2599581"/>
            <a:ext cx="148981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$500M+ Opportunity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94450" y="1171277"/>
            <a:ext cx="1841599" cy="3718322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794450" y="1199852"/>
            <a:ext cx="1841599" cy="0"/>
          </a:xfrm>
          <a:prstGeom prst="line">
            <a:avLst/>
          </a:prstGeom>
          <a:noFill/>
          <a:ln w="5715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4950" y="1418927"/>
            <a:ext cx="148981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Carbyne Acquisition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84950" y="1964978"/>
            <a:ext cx="1489811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911 technology. Completes call-to-court ecosystem.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84950" y="2599581"/>
            <a:ext cx="148981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$625M Deal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174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Recommendation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17525"/>
            <a:ext cx="3905399" cy="1304627"/>
          </a:xfrm>
          <a:prstGeom prst="roundRect">
            <a:avLst>
              <a:gd name="adj" fmla="val 9735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7875" y="1171426"/>
            <a:ext cx="346554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27875" y="1758702"/>
            <a:ext cx="34655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weakness to $510-540 zone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2412653"/>
            <a:ext cx="3905399" cy="1561802"/>
          </a:xfrm>
          <a:prstGeom prst="roundRect">
            <a:avLst>
              <a:gd name="adj" fmla="val 6505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8450" y="2603153"/>
            <a:ext cx="35948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8450" y="2965103"/>
            <a:ext cx="7439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Zone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78721" y="2965103"/>
            <a:ext cx="6570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$510-540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8450" y="3238054"/>
            <a:ext cx="6884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Loss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4203" y="3238054"/>
            <a:ext cx="8554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$485 (-10%)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8450" y="3511004"/>
            <a:ext cx="8863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Size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2132" y="3511004"/>
            <a:ext cx="12349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3-5% of Portfolio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30800" y="917525"/>
            <a:ext cx="3905399" cy="2421731"/>
          </a:xfrm>
          <a:prstGeom prst="roundRect">
            <a:avLst>
              <a:gd name="adj" fmla="val 4195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21300" y="1108025"/>
            <a:ext cx="35948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Targets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21300" y="1887289"/>
            <a:ext cx="3524399" cy="0"/>
          </a:xfrm>
          <a:prstGeom prst="line">
            <a:avLst/>
          </a:prstGeom>
          <a:noFill/>
          <a:ln w="9525">
            <a:solidFill>
              <a:srgbClr val="3E50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1300" y="1600051"/>
            <a:ext cx="5436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22952" y="1571476"/>
            <a:ext cx="10432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$650 (+20%)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21300" y="2309366"/>
            <a:ext cx="3524399" cy="0"/>
          </a:xfrm>
          <a:prstGeom prst="line">
            <a:avLst/>
          </a:prstGeom>
          <a:noFill/>
          <a:ln w="9525">
            <a:solidFill>
              <a:srgbClr val="3E50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1300" y="2022128"/>
            <a:ext cx="5436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22952" y="1993553"/>
            <a:ext cx="10432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 (+40%)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21300" y="2731443"/>
            <a:ext cx="3524399" cy="0"/>
          </a:xfrm>
          <a:prstGeom prst="line">
            <a:avLst/>
          </a:prstGeom>
          <a:noFill/>
          <a:ln w="9525">
            <a:solidFill>
              <a:srgbClr val="3E50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1300" y="2444204"/>
            <a:ext cx="5436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22952" y="2415629"/>
            <a:ext cx="10432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$850 (+60%)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21300" y="2866281"/>
            <a:ext cx="812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Avg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22952" y="2837706"/>
            <a:ext cx="10432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$814 (+44%)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30800" y="3529757"/>
            <a:ext cx="3905399" cy="790575"/>
          </a:xfrm>
          <a:prstGeom prst="roundRect">
            <a:avLst>
              <a:gd name="adj" fmla="val 1285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47194" y="3682157"/>
            <a:ext cx="36726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Risk/Reward at Target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7194" y="3872657"/>
            <a:ext cx="367261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9327" y="83195"/>
            <a:ext cx="550519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873300" y="867370"/>
            <a:ext cx="5397252" cy="2608659"/>
          </a:xfrm>
          <a:prstGeom prst="roundRect">
            <a:avLst>
              <a:gd name="adj" fmla="val 4868"/>
            </a:avLst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127200" y="1121271"/>
            <a:ext cx="4889450" cy="210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market position: 85-95% share in core markets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revenue growth: 33%+ YoY with 114% earnings growth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 creating new $1B+ revenue streams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Recession-resistant government customer base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valuation (P/E 177x) but PEG of 1.07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7814" y="3729930"/>
            <a:ext cx="1171129" cy="892076"/>
          </a:xfrm>
          <a:prstGeom prst="roundRect">
            <a:avLst>
              <a:gd name="adj" fmla="val 11389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59902" y="3920430"/>
            <a:ext cx="5469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59902" y="4136231"/>
            <a:ext cx="54695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99942" y="3729930"/>
            <a:ext cx="2096095" cy="892076"/>
          </a:xfrm>
          <a:prstGeom prst="roundRect">
            <a:avLst>
              <a:gd name="adj" fmla="val 11389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02781" y="3920430"/>
            <a:ext cx="14904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TARGET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02781" y="4136231"/>
            <a:ext cx="149041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 (+33%)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9327" y="4812506"/>
            <a:ext cx="55051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financial advice. Do your own research before investing.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Axon Enterprise (AXON) - Investment Analysis</dc:title>
  <dc:subject>Comprehensive stock analysis and investment recommendation</dc:subject>
  <dc:creator>AI Stock Analyst</dc:creator>
  <cp:lastModifiedBy>AI Stock Analyst</cp:lastModifiedBy>
  <cp:revision>1</cp:revision>
  <dcterms:created xsi:type="dcterms:W3CDTF">2026-01-04T04:18:59Z</dcterms:created>
  <dcterms:modified xsi:type="dcterms:W3CDTF">2026-01-04T04:18:59Z</dcterms:modified>
</cp:coreProperties>
</file>