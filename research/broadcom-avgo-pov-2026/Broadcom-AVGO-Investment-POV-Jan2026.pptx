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6CFF"/>
        </a:solidFill>
      </p:bgPr>
    </p:bg>
    <p:spTree>
      <p:nvGrpSpPr>
        <p:cNvPr id="1" name=""/>
        <p:cNvGrpSpPr/>
        <p:nvPr/>
      </p:nvGrpSpPr>
      <p:grpSpPr>
        <a:xfrm>
          <a:off x="0" y="0"/>
          <a:ext cx="0" cy="0"/>
          <a:chOff x="0" y="0"/>
          <a:chExt cx="0" cy="0"/>
        </a:xfrm>
      </p:grpSpPr>
      <p:sp>
        <p:nvSpPr>
          <p:cNvPr id="2" name="Text 0"/>
          <p:cNvSpPr/>
          <p:nvPr/>
        </p:nvSpPr>
        <p:spPr>
          <a:xfrm>
            <a:off x="457200" y="1828800"/>
            <a:ext cx="8229600" cy="914400"/>
          </a:xfrm>
          <a:prstGeom prst="rect">
            <a:avLst/>
          </a:prstGeom>
          <a:noFill/>
          <a:ln/>
        </p:spPr>
        <p:txBody>
          <a:bodyPr wrap="square" rtlCol="0" anchor="ctr"/>
          <a:lstStyle/>
          <a:p>
            <a:pPr algn="ctr" indent="0" marL="0">
              <a:buNone/>
            </a:pPr>
            <a:r>
              <a:rPr lang="en-US" sz="5400" b="1" dirty="0">
                <a:solidFill>
                  <a:srgbClr val="FFFFFF"/>
                </a:solidFill>
                <a:latin typeface="Avenir Next" pitchFamily="34" charset="0"/>
                <a:ea typeface="Avenir Next" pitchFamily="34" charset="-122"/>
                <a:cs typeface="Avenir Next" pitchFamily="34" charset="-120"/>
              </a:rPr>
              <a:t>Broadcom Inc. (AVGO)</a:t>
            </a:r>
            <a:endParaRPr lang="en-US" sz="5400" dirty="0"/>
          </a:p>
        </p:txBody>
      </p:sp>
      <p:sp>
        <p:nvSpPr>
          <p:cNvPr id="3" name="Text 1"/>
          <p:cNvSpPr/>
          <p:nvPr/>
        </p:nvSpPr>
        <p:spPr>
          <a:xfrm>
            <a:off x="457200" y="2834640"/>
            <a:ext cx="8229600" cy="457200"/>
          </a:xfrm>
          <a:prstGeom prst="rect">
            <a:avLst/>
          </a:prstGeom>
          <a:noFill/>
          <a:ln/>
        </p:spPr>
        <p:txBody>
          <a:bodyPr wrap="square" rtlCol="0" anchor="ctr"/>
          <a:lstStyle/>
          <a:p>
            <a:pPr algn="ctr" indent="0" marL="0">
              <a:buNone/>
            </a:pPr>
            <a:r>
              <a:rPr lang="en-US" sz="2800" dirty="0">
                <a:solidFill>
                  <a:srgbClr val="8FB8FF"/>
                </a:solidFill>
                <a:latin typeface="Avenir Next" pitchFamily="34" charset="0"/>
                <a:ea typeface="Avenir Next" pitchFamily="34" charset="-122"/>
                <a:cs typeface="Avenir Next" pitchFamily="34" charset="-120"/>
              </a:rPr>
              <a:t>Investment Point of View</a:t>
            </a:r>
            <a:endParaRPr lang="en-US" sz="2800" dirty="0"/>
          </a:p>
        </p:txBody>
      </p:sp>
      <p:sp>
        <p:nvSpPr>
          <p:cNvPr id="4" name="Text 2"/>
          <p:cNvSpPr/>
          <p:nvPr/>
        </p:nvSpPr>
        <p:spPr>
          <a:xfrm>
            <a:off x="457200" y="4389120"/>
            <a:ext cx="8229600" cy="365760"/>
          </a:xfrm>
          <a:prstGeom prst="rect">
            <a:avLst/>
          </a:prstGeom>
          <a:noFill/>
          <a:ln/>
        </p:spPr>
        <p:txBody>
          <a:bodyPr wrap="square" rtlCol="0" anchor="ctr"/>
          <a:lstStyle/>
          <a:p>
            <a:pPr algn="ctr" indent="0" marL="0">
              <a:buNone/>
            </a:pPr>
            <a:r>
              <a:rPr lang="en-US" sz="1800" dirty="0">
                <a:solidFill>
                  <a:srgbClr val="C4DBFF"/>
                </a:solidFill>
                <a:latin typeface="Avenir Next" pitchFamily="34" charset="0"/>
                <a:ea typeface="Avenir Next" pitchFamily="34" charset="-122"/>
                <a:cs typeface="Avenir Next" pitchFamily="34" charset="-120"/>
              </a:rPr>
              <a:t>January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Executive Summary</a:t>
            </a:r>
            <a:endParaRPr lang="en-US" sz="3600" dirty="0"/>
          </a:p>
        </p:txBody>
      </p:sp>
      <p:sp>
        <p:nvSpPr>
          <p:cNvPr id="4" name="Text 2"/>
          <p:cNvSpPr/>
          <p:nvPr/>
        </p:nvSpPr>
        <p:spPr>
          <a:xfrm>
            <a:off x="457200" y="1280160"/>
            <a:ext cx="8229600" cy="3383280"/>
          </a:xfrm>
          <a:prstGeom prst="rect">
            <a:avLst/>
          </a:prstGeom>
          <a:noFill/>
          <a:ln/>
        </p:spPr>
        <p:txBody>
          <a:bodyPr wrap="square" rtlCol="0" anchor="t"/>
          <a:lstStyle/>
          <a:p>
            <a:pPr indent="0" marL="0">
              <a:spcAft>
                <a:spcPts val="600"/>
              </a:spcAft>
              <a:buNone/>
            </a:pPr>
            <a:r>
              <a:rPr lang="en-US" sz="1800" b="1" dirty="0">
                <a:solidFill>
                  <a:srgbClr val="0D2644"/>
                </a:solidFill>
                <a:latin typeface="Avenir Next" pitchFamily="34" charset="0"/>
                <a:ea typeface="Avenir Next" pitchFamily="34" charset="-122"/>
                <a:cs typeface="Avenir Next" pitchFamily="34" charset="-120"/>
              </a:rPr>
              <a:t>Investment Rating: </a:t>
            </a:r>
            <a:pPr indent="0" marL="0">
              <a:spcAft>
                <a:spcPts val="600"/>
              </a:spcAft>
              <a:buNone/>
            </a:pPr>
            <a:r>
              <a:rPr lang="en-US" sz="1800" b="1" dirty="0">
                <a:solidFill>
                  <a:srgbClr val="F5A623"/>
                </a:solidFill>
                <a:latin typeface="Avenir Next" pitchFamily="34" charset="0"/>
                <a:ea typeface="Avenir Next" pitchFamily="34" charset="-122"/>
                <a:cs typeface="Avenir Next" pitchFamily="34" charset="-120"/>
              </a:rPr>
              <a:t>HOLD</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 at current levels, </a:t>
            </a:r>
            <a:pPr indent="0" marL="0">
              <a:spcAft>
                <a:spcPts val="600"/>
              </a:spcAft>
              <a:buNone/>
            </a:pPr>
            <a:r>
              <a:rPr lang="en-US" sz="1800" b="1" dirty="0">
                <a:solidFill>
                  <a:srgbClr val="0A5C36"/>
                </a:solidFill>
                <a:latin typeface="Avenir Next" pitchFamily="34" charset="0"/>
                <a:ea typeface="Avenir Next" pitchFamily="34" charset="-122"/>
                <a:cs typeface="Avenir Next" pitchFamily="34" charset="-120"/>
              </a:rPr>
              <a:t>BUY</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 on dips to $320-330</a:t>
            </a:r>
            <a:pPr indent="0" marL="0">
              <a:spcAft>
                <a:spcPts val="600"/>
              </a:spcAft>
              <a:buNone/>
            </a:pPr>
            <a:r>
              <a:rPr lang="en-US" sz="1800" dirty="0">
                <a:solidFill>
                  <a:srgbClr val="000000"/>
                </a:solidFill>
                <a:latin typeface="Avenir Next" pitchFamily="34" charset="0"/>
                <a:ea typeface="Avenir Next" pitchFamily="34" charset="-122"/>
                <a:cs typeface="Avenir Next" pitchFamily="34" charset="-120"/>
              </a:rPr>
              <a:t>
</a:t>
            </a:r>
            <a:pPr indent="0" marL="0">
              <a:spcAft>
                <a:spcPts val="600"/>
              </a:spcAft>
              <a:buNone/>
            </a:pPr>
            <a:r>
              <a:rPr lang="en-US" sz="1800" b="1" dirty="0">
                <a:solidFill>
                  <a:srgbClr val="0D2644"/>
                </a:solidFill>
                <a:latin typeface="Avenir Next" pitchFamily="34" charset="0"/>
                <a:ea typeface="Avenir Next" pitchFamily="34" charset="-122"/>
                <a:cs typeface="Avenir Next" pitchFamily="34" charset="-120"/>
              </a:rPr>
              <a:t>Key Thesis:
</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Broadcom owns the custom silicon and networking fabric that powers AI inference at scale. While NVIDIA dominates training GPUs, Broadcom captures the inference market where hyperscalers need custom chips optimized for their specific workloads.</a:t>
            </a:r>
            <a:pPr indent="0" marL="0">
              <a:spcAft>
                <a:spcPts val="600"/>
              </a:spcAft>
              <a:buNone/>
            </a:pPr>
            <a:r>
              <a:rPr lang="en-US" sz="1800" dirty="0">
                <a:solidFill>
                  <a:srgbClr val="000000"/>
                </a:solidFill>
                <a:latin typeface="Avenir Next" pitchFamily="34" charset="0"/>
                <a:ea typeface="Avenir Next" pitchFamily="34" charset="-122"/>
                <a:cs typeface="Avenir Next" pitchFamily="34" charset="-120"/>
              </a:rPr>
              <a:t>
</a:t>
            </a:r>
            <a:pPr indent="0" marL="0">
              <a:spcAft>
                <a:spcPts val="600"/>
              </a:spcAft>
              <a:buNone/>
            </a:pPr>
            <a:r>
              <a:rPr lang="en-US" sz="1800" b="1" dirty="0">
                <a:solidFill>
                  <a:srgbClr val="0D2644"/>
                </a:solidFill>
                <a:latin typeface="Avenir Next" pitchFamily="34" charset="0"/>
                <a:ea typeface="Avenir Next" pitchFamily="34" charset="-122"/>
                <a:cs typeface="Avenir Next" pitchFamily="34" charset="-120"/>
              </a:rPr>
              <a:t>Catalysts:
</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 OpenAI partnership: $10B+ order for custom AI chips
</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 AI backlog: $73B through FY2027 (vs. $38B consensus)
</a:t>
            </a:r>
            <a:pPr indent="0" marL="0">
              <a:spcAft>
                <a:spcPts val="600"/>
              </a:spcAft>
              <a:buNone/>
            </a:pPr>
            <a:r>
              <a:rPr lang="en-US" sz="1800" dirty="0">
                <a:solidFill>
                  <a:srgbClr val="4A4A4A"/>
                </a:solidFill>
                <a:latin typeface="Avenir Next" pitchFamily="34" charset="0"/>
                <a:ea typeface="Avenir Next" pitchFamily="34" charset="-122"/>
                <a:cs typeface="Avenir Next" pitchFamily="34" charset="-120"/>
              </a:rPr>
              <a:t>• 5 hyperscaler customers: Google, Meta, ByteDance, OpenAI, and potentially Microsoft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644"/>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2103120"/>
            <a:ext cx="7315200" cy="914400"/>
          </a:xfrm>
          <a:prstGeom prst="rect">
            <a:avLst/>
          </a:prstGeom>
          <a:noFill/>
          <a:ln/>
        </p:spPr>
        <p:txBody>
          <a:bodyPr wrap="square"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Financial Performance</a:t>
            </a:r>
            <a:endParaRPr lang="en-US" sz="4400" dirty="0"/>
          </a:p>
        </p:txBody>
      </p:sp>
      <p:sp>
        <p:nvSpPr>
          <p:cNvPr id="4" name="Text 2"/>
          <p:cNvSpPr/>
          <p:nvPr/>
        </p:nvSpPr>
        <p:spPr>
          <a:xfrm>
            <a:off x="457200" y="3108960"/>
            <a:ext cx="7315200" cy="457200"/>
          </a:xfrm>
          <a:prstGeom prst="rect">
            <a:avLst/>
          </a:prstGeom>
          <a:noFill/>
          <a:ln/>
        </p:spPr>
        <p:txBody>
          <a:bodyPr wrap="square" rtlCol="0" anchor="ctr"/>
          <a:lstStyle/>
          <a:p>
            <a:pPr indent="0" marL="0">
              <a:buNone/>
            </a:pPr>
            <a:r>
              <a:rPr lang="en-US" sz="2200" dirty="0">
                <a:solidFill>
                  <a:srgbClr val="8FB8FF"/>
                </a:solidFill>
                <a:latin typeface="Avenir Next" pitchFamily="34" charset="0"/>
                <a:ea typeface="Avenir Next" pitchFamily="34" charset="-122"/>
                <a:cs typeface="Avenir Next" pitchFamily="34" charset="-120"/>
              </a:rPr>
              <a:t>FY2025 Results &amp; Key Metrics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Key Financial Metrics</a:t>
            </a:r>
            <a:endParaRPr lang="en-US" sz="3600" dirty="0"/>
          </a:p>
        </p:txBody>
      </p:sp>
      <p:sp>
        <p:nvSpPr>
          <p:cNvPr id="4" name="Text 2"/>
          <p:cNvSpPr/>
          <p:nvPr/>
        </p:nvSpPr>
        <p:spPr>
          <a:xfrm>
            <a:off x="457200" y="1463040"/>
            <a:ext cx="2011680" cy="731520"/>
          </a:xfrm>
          <a:prstGeom prst="rect">
            <a:avLst/>
          </a:prstGeom>
          <a:noFill/>
          <a:ln/>
        </p:spPr>
        <p:txBody>
          <a:bodyPr wrap="square" rtlCol="0" anchor="ctr"/>
          <a:lstStyle/>
          <a:p>
            <a:pPr algn="ctr" indent="0" marL="0">
              <a:buNone/>
            </a:pPr>
            <a:r>
              <a:rPr lang="en-US" sz="3600" b="1" dirty="0">
                <a:solidFill>
                  <a:srgbClr val="236CFF"/>
                </a:solidFill>
                <a:latin typeface="Avenir Next" pitchFamily="34" charset="0"/>
                <a:ea typeface="Avenir Next" pitchFamily="34" charset="-122"/>
                <a:cs typeface="Avenir Next" pitchFamily="34" charset="-120"/>
              </a:rPr>
              <a:t>$63.9B</a:t>
            </a:r>
            <a:endParaRPr lang="en-US" sz="3600" dirty="0"/>
          </a:p>
        </p:txBody>
      </p:sp>
      <p:sp>
        <p:nvSpPr>
          <p:cNvPr id="5" name="Text 3"/>
          <p:cNvSpPr/>
          <p:nvPr/>
        </p:nvSpPr>
        <p:spPr>
          <a:xfrm>
            <a:off x="457200" y="2194560"/>
            <a:ext cx="2011680" cy="365760"/>
          </a:xfrm>
          <a:prstGeom prst="rect">
            <a:avLst/>
          </a:prstGeom>
          <a:noFill/>
          <a:ln/>
        </p:spPr>
        <p:txBody>
          <a:bodyPr wrap="square" rtlCol="0" anchor="ctr"/>
          <a:lstStyle/>
          <a:p>
            <a:pPr algn="ctr" indent="0" marL="0">
              <a:buNone/>
            </a:pPr>
            <a:r>
              <a:rPr lang="en-US" sz="1600" dirty="0">
                <a:solidFill>
                  <a:srgbClr val="0D2644"/>
                </a:solidFill>
                <a:latin typeface="Avenir Next" pitchFamily="34" charset="0"/>
                <a:ea typeface="Avenir Next" pitchFamily="34" charset="-122"/>
                <a:cs typeface="Avenir Next" pitchFamily="34" charset="-120"/>
              </a:rPr>
              <a:t>Revenue</a:t>
            </a:r>
            <a:endParaRPr lang="en-US" sz="1600" dirty="0"/>
          </a:p>
        </p:txBody>
      </p:sp>
      <p:sp>
        <p:nvSpPr>
          <p:cNvPr id="6" name="Text 4"/>
          <p:cNvSpPr/>
          <p:nvPr/>
        </p:nvSpPr>
        <p:spPr>
          <a:xfrm>
            <a:off x="457200" y="2560320"/>
            <a:ext cx="2011680" cy="274320"/>
          </a:xfrm>
          <a:prstGeom prst="rect">
            <a:avLst/>
          </a:prstGeom>
          <a:noFill/>
          <a:ln/>
        </p:spPr>
        <p:txBody>
          <a:bodyPr wrap="square" rtlCol="0" anchor="ctr"/>
          <a:lstStyle/>
          <a:p>
            <a:pPr algn="ctr" indent="0" marL="0">
              <a:buNone/>
            </a:pPr>
            <a:r>
              <a:rPr lang="en-US" sz="1400" dirty="0">
                <a:solidFill>
                  <a:srgbClr val="0A5C36"/>
                </a:solidFill>
                <a:latin typeface="Avenir Next" pitchFamily="34" charset="0"/>
                <a:ea typeface="Avenir Next" pitchFamily="34" charset="-122"/>
                <a:cs typeface="Avenir Next" pitchFamily="34" charset="-120"/>
              </a:rPr>
              <a:t>+24% YoY</a:t>
            </a:r>
            <a:endParaRPr lang="en-US" sz="1400" dirty="0"/>
          </a:p>
        </p:txBody>
      </p:sp>
      <p:sp>
        <p:nvSpPr>
          <p:cNvPr id="7" name="Text 5"/>
          <p:cNvSpPr/>
          <p:nvPr/>
        </p:nvSpPr>
        <p:spPr>
          <a:xfrm>
            <a:off x="2651760" y="1463040"/>
            <a:ext cx="2011680" cy="731520"/>
          </a:xfrm>
          <a:prstGeom prst="rect">
            <a:avLst/>
          </a:prstGeom>
          <a:noFill/>
          <a:ln/>
        </p:spPr>
        <p:txBody>
          <a:bodyPr wrap="square" rtlCol="0" anchor="ctr"/>
          <a:lstStyle/>
          <a:p>
            <a:pPr algn="ctr" indent="0" marL="0">
              <a:buNone/>
            </a:pPr>
            <a:r>
              <a:rPr lang="en-US" sz="3600" b="1" dirty="0">
                <a:solidFill>
                  <a:srgbClr val="236CFF"/>
                </a:solidFill>
                <a:latin typeface="Avenir Next" pitchFamily="34" charset="0"/>
                <a:ea typeface="Avenir Next" pitchFamily="34" charset="-122"/>
                <a:cs typeface="Avenir Next" pitchFamily="34" charset="-120"/>
              </a:rPr>
              <a:t>$23.1B</a:t>
            </a:r>
            <a:endParaRPr lang="en-US" sz="3600" dirty="0"/>
          </a:p>
        </p:txBody>
      </p:sp>
      <p:sp>
        <p:nvSpPr>
          <p:cNvPr id="8" name="Text 6"/>
          <p:cNvSpPr/>
          <p:nvPr/>
        </p:nvSpPr>
        <p:spPr>
          <a:xfrm>
            <a:off x="2651760" y="2194560"/>
            <a:ext cx="2011680" cy="365760"/>
          </a:xfrm>
          <a:prstGeom prst="rect">
            <a:avLst/>
          </a:prstGeom>
          <a:noFill/>
          <a:ln/>
        </p:spPr>
        <p:txBody>
          <a:bodyPr wrap="square" rtlCol="0" anchor="ctr"/>
          <a:lstStyle/>
          <a:p>
            <a:pPr algn="ctr" indent="0" marL="0">
              <a:buNone/>
            </a:pPr>
            <a:r>
              <a:rPr lang="en-US" sz="1600" dirty="0">
                <a:solidFill>
                  <a:srgbClr val="0D2644"/>
                </a:solidFill>
                <a:latin typeface="Avenir Next" pitchFamily="34" charset="0"/>
                <a:ea typeface="Avenir Next" pitchFamily="34" charset="-122"/>
                <a:cs typeface="Avenir Next" pitchFamily="34" charset="-120"/>
              </a:rPr>
              <a:t>Net Income</a:t>
            </a:r>
            <a:endParaRPr lang="en-US" sz="1600" dirty="0"/>
          </a:p>
        </p:txBody>
      </p:sp>
      <p:sp>
        <p:nvSpPr>
          <p:cNvPr id="9" name="Text 7"/>
          <p:cNvSpPr/>
          <p:nvPr/>
        </p:nvSpPr>
        <p:spPr>
          <a:xfrm>
            <a:off x="2651760" y="2560320"/>
            <a:ext cx="2011680" cy="274320"/>
          </a:xfrm>
          <a:prstGeom prst="rect">
            <a:avLst/>
          </a:prstGeom>
          <a:noFill/>
          <a:ln/>
        </p:spPr>
        <p:txBody>
          <a:bodyPr wrap="square" rtlCol="0" anchor="ctr"/>
          <a:lstStyle/>
          <a:p>
            <a:pPr algn="ctr" indent="0" marL="0">
              <a:buNone/>
            </a:pPr>
            <a:r>
              <a:rPr lang="en-US" sz="1400" dirty="0">
                <a:solidFill>
                  <a:srgbClr val="0A5C36"/>
                </a:solidFill>
                <a:latin typeface="Avenir Next" pitchFamily="34" charset="0"/>
                <a:ea typeface="Avenir Next" pitchFamily="34" charset="-122"/>
                <a:cs typeface="Avenir Next" pitchFamily="34" charset="-120"/>
              </a:rPr>
              <a:t>+292% YoY</a:t>
            </a:r>
            <a:endParaRPr lang="en-US" sz="1400" dirty="0"/>
          </a:p>
        </p:txBody>
      </p:sp>
      <p:sp>
        <p:nvSpPr>
          <p:cNvPr id="10" name="Text 8"/>
          <p:cNvSpPr/>
          <p:nvPr/>
        </p:nvSpPr>
        <p:spPr>
          <a:xfrm>
            <a:off x="4846320" y="1463040"/>
            <a:ext cx="2011680" cy="731520"/>
          </a:xfrm>
          <a:prstGeom prst="rect">
            <a:avLst/>
          </a:prstGeom>
          <a:noFill/>
          <a:ln/>
        </p:spPr>
        <p:txBody>
          <a:bodyPr wrap="square" rtlCol="0" anchor="ctr"/>
          <a:lstStyle/>
          <a:p>
            <a:pPr algn="ctr" indent="0" marL="0">
              <a:buNone/>
            </a:pPr>
            <a:r>
              <a:rPr lang="en-US" sz="3600" b="1" dirty="0">
                <a:solidFill>
                  <a:srgbClr val="236CFF"/>
                </a:solidFill>
                <a:latin typeface="Avenir Next" pitchFamily="34" charset="0"/>
                <a:ea typeface="Avenir Next" pitchFamily="34" charset="-122"/>
                <a:cs typeface="Avenir Next" pitchFamily="34" charset="-120"/>
              </a:rPr>
              <a:t>$27B</a:t>
            </a:r>
            <a:endParaRPr lang="en-US" sz="3600" dirty="0"/>
          </a:p>
        </p:txBody>
      </p:sp>
      <p:sp>
        <p:nvSpPr>
          <p:cNvPr id="11" name="Text 9"/>
          <p:cNvSpPr/>
          <p:nvPr/>
        </p:nvSpPr>
        <p:spPr>
          <a:xfrm>
            <a:off x="4846320" y="2194560"/>
            <a:ext cx="2011680" cy="365760"/>
          </a:xfrm>
          <a:prstGeom prst="rect">
            <a:avLst/>
          </a:prstGeom>
          <a:noFill/>
          <a:ln/>
        </p:spPr>
        <p:txBody>
          <a:bodyPr wrap="square" rtlCol="0" anchor="ctr"/>
          <a:lstStyle/>
          <a:p>
            <a:pPr algn="ctr" indent="0" marL="0">
              <a:buNone/>
            </a:pPr>
            <a:r>
              <a:rPr lang="en-US" sz="1600" dirty="0">
                <a:solidFill>
                  <a:srgbClr val="0D2644"/>
                </a:solidFill>
                <a:latin typeface="Avenir Next" pitchFamily="34" charset="0"/>
                <a:ea typeface="Avenir Next" pitchFamily="34" charset="-122"/>
                <a:cs typeface="Avenir Next" pitchFamily="34" charset="-120"/>
              </a:rPr>
              <a:t>Free Cash Flow</a:t>
            </a:r>
            <a:endParaRPr lang="en-US" sz="1600" dirty="0"/>
          </a:p>
        </p:txBody>
      </p:sp>
      <p:sp>
        <p:nvSpPr>
          <p:cNvPr id="12" name="Text 10"/>
          <p:cNvSpPr/>
          <p:nvPr/>
        </p:nvSpPr>
        <p:spPr>
          <a:xfrm>
            <a:off x="4846320" y="2560320"/>
            <a:ext cx="2011680" cy="274320"/>
          </a:xfrm>
          <a:prstGeom prst="rect">
            <a:avLst/>
          </a:prstGeom>
          <a:noFill/>
          <a:ln/>
        </p:spPr>
        <p:txBody>
          <a:bodyPr wrap="square" rtlCol="0" anchor="ctr"/>
          <a:lstStyle/>
          <a:p>
            <a:pPr algn="ctr" indent="0" marL="0">
              <a:buNone/>
            </a:pPr>
            <a:r>
              <a:rPr lang="en-US" sz="1400" dirty="0">
                <a:solidFill>
                  <a:srgbClr val="8C8C8C"/>
                </a:solidFill>
                <a:latin typeface="Avenir Next" pitchFamily="34" charset="0"/>
                <a:ea typeface="Avenir Next" pitchFamily="34" charset="-122"/>
                <a:cs typeface="Avenir Next" pitchFamily="34" charset="-120"/>
              </a:rPr>
              <a:t>Strong</a:t>
            </a:r>
            <a:endParaRPr lang="en-US" sz="1400" dirty="0"/>
          </a:p>
        </p:txBody>
      </p:sp>
      <p:sp>
        <p:nvSpPr>
          <p:cNvPr id="13" name="Text 11"/>
          <p:cNvSpPr/>
          <p:nvPr/>
        </p:nvSpPr>
        <p:spPr>
          <a:xfrm>
            <a:off x="7040880" y="1463040"/>
            <a:ext cx="2011680" cy="731520"/>
          </a:xfrm>
          <a:prstGeom prst="rect">
            <a:avLst/>
          </a:prstGeom>
          <a:noFill/>
          <a:ln/>
        </p:spPr>
        <p:txBody>
          <a:bodyPr wrap="square" rtlCol="0" anchor="ctr"/>
          <a:lstStyle/>
          <a:p>
            <a:pPr algn="ctr" indent="0" marL="0">
              <a:buNone/>
            </a:pPr>
            <a:r>
              <a:rPr lang="en-US" sz="3600" b="1" dirty="0">
                <a:solidFill>
                  <a:srgbClr val="236CFF"/>
                </a:solidFill>
                <a:latin typeface="Avenir Next" pitchFamily="34" charset="0"/>
                <a:ea typeface="Avenir Next" pitchFamily="34" charset="-122"/>
                <a:cs typeface="Avenir Next" pitchFamily="34" charset="-120"/>
              </a:rPr>
              <a:t>72.7x</a:t>
            </a:r>
            <a:endParaRPr lang="en-US" sz="3600" dirty="0"/>
          </a:p>
        </p:txBody>
      </p:sp>
      <p:sp>
        <p:nvSpPr>
          <p:cNvPr id="14" name="Text 12"/>
          <p:cNvSpPr/>
          <p:nvPr/>
        </p:nvSpPr>
        <p:spPr>
          <a:xfrm>
            <a:off x="7040880" y="2194560"/>
            <a:ext cx="2011680" cy="365760"/>
          </a:xfrm>
          <a:prstGeom prst="rect">
            <a:avLst/>
          </a:prstGeom>
          <a:noFill/>
          <a:ln/>
        </p:spPr>
        <p:txBody>
          <a:bodyPr wrap="square" rtlCol="0" anchor="ctr"/>
          <a:lstStyle/>
          <a:p>
            <a:pPr algn="ctr" indent="0" marL="0">
              <a:buNone/>
            </a:pPr>
            <a:r>
              <a:rPr lang="en-US" sz="1600" dirty="0">
                <a:solidFill>
                  <a:srgbClr val="0D2644"/>
                </a:solidFill>
                <a:latin typeface="Avenir Next" pitchFamily="34" charset="0"/>
                <a:ea typeface="Avenir Next" pitchFamily="34" charset="-122"/>
                <a:cs typeface="Avenir Next" pitchFamily="34" charset="-120"/>
              </a:rPr>
              <a:t>P/E Ratio</a:t>
            </a:r>
            <a:endParaRPr lang="en-US" sz="1600" dirty="0"/>
          </a:p>
        </p:txBody>
      </p:sp>
      <p:sp>
        <p:nvSpPr>
          <p:cNvPr id="15" name="Text 13"/>
          <p:cNvSpPr/>
          <p:nvPr/>
        </p:nvSpPr>
        <p:spPr>
          <a:xfrm>
            <a:off x="7040880" y="2560320"/>
            <a:ext cx="2011680" cy="274320"/>
          </a:xfrm>
          <a:prstGeom prst="rect">
            <a:avLst/>
          </a:prstGeom>
          <a:noFill/>
          <a:ln/>
        </p:spPr>
        <p:txBody>
          <a:bodyPr wrap="square" rtlCol="0" anchor="ctr"/>
          <a:lstStyle/>
          <a:p>
            <a:pPr algn="ctr" indent="0" marL="0">
              <a:buNone/>
            </a:pPr>
            <a:r>
              <a:rPr lang="en-US" sz="1400" dirty="0">
                <a:solidFill>
                  <a:srgbClr val="8C8C8C"/>
                </a:solidFill>
                <a:latin typeface="Avenir Next" pitchFamily="34" charset="0"/>
                <a:ea typeface="Avenir Next" pitchFamily="34" charset="-122"/>
                <a:cs typeface="Avenir Next" pitchFamily="34" charset="-120"/>
              </a:rPr>
              <a:t>Premium</a:t>
            </a:r>
            <a:endParaRPr lang="en-US" sz="1400" dirty="0"/>
          </a:p>
        </p:txBody>
      </p:sp>
      <p:sp>
        <p:nvSpPr>
          <p:cNvPr id="16" name="Shape 14"/>
          <p:cNvSpPr/>
          <p:nvPr/>
        </p:nvSpPr>
        <p:spPr>
          <a:xfrm>
            <a:off x="457200" y="3108960"/>
            <a:ext cx="8229600" cy="1463040"/>
          </a:xfrm>
          <a:prstGeom prst="rect">
            <a:avLst/>
          </a:prstGeom>
          <a:solidFill>
            <a:srgbClr val="E8F1FF"/>
          </a:solidFill>
          <a:ln/>
        </p:spPr>
      </p:sp>
      <p:sp>
        <p:nvSpPr>
          <p:cNvPr id="17" name="Text 15"/>
          <p:cNvSpPr/>
          <p:nvPr/>
        </p:nvSpPr>
        <p:spPr>
          <a:xfrm>
            <a:off x="640080" y="3291840"/>
            <a:ext cx="7863840" cy="457200"/>
          </a:xfrm>
          <a:prstGeom prst="rect">
            <a:avLst/>
          </a:prstGeom>
          <a:noFill/>
          <a:ln/>
        </p:spPr>
        <p:txBody>
          <a:bodyPr wrap="square" rtlCol="0" anchor="ctr"/>
          <a:lstStyle/>
          <a:p>
            <a:pPr algn="ctr" indent="0" marL="0">
              <a:buNone/>
            </a:pPr>
            <a:r>
              <a:rPr lang="en-US" sz="1600" b="1" dirty="0">
                <a:solidFill>
                  <a:srgbClr val="0D2644"/>
                </a:solidFill>
                <a:latin typeface="Avenir Next" pitchFamily="34" charset="0"/>
                <a:ea typeface="Avenir Next" pitchFamily="34" charset="-122"/>
                <a:cs typeface="Avenir Next" pitchFamily="34" charset="-120"/>
              </a:rPr>
              <a:t>Current Price: </a:t>
            </a:r>
            <a:pPr algn="ctr" indent="0" marL="0">
              <a:buNone/>
            </a:pPr>
            <a:r>
              <a:rPr lang="en-US" sz="1600" b="1" dirty="0">
                <a:solidFill>
                  <a:srgbClr val="236CFF"/>
                </a:solidFill>
                <a:latin typeface="Avenir Next" pitchFamily="34" charset="0"/>
                <a:ea typeface="Avenir Next" pitchFamily="34" charset="-122"/>
                <a:cs typeface="Avenir Next" pitchFamily="34" charset="-120"/>
              </a:rPr>
              <a:t>$347.62</a:t>
            </a:r>
            <a:pPr algn="ctr" indent="0" marL="0">
              <a:buNone/>
            </a:pPr>
            <a:r>
              <a:rPr lang="en-US" sz="1600" b="1" dirty="0">
                <a:solidFill>
                  <a:srgbClr val="0D2644"/>
                </a:solidFill>
                <a:latin typeface="Avenir Next" pitchFamily="34" charset="0"/>
                <a:ea typeface="Avenir Next" pitchFamily="34" charset="-122"/>
                <a:cs typeface="Avenir Next" pitchFamily="34" charset="-120"/>
              </a:rPr>
              <a:t>   |   52-Week Range: </a:t>
            </a:r>
            <a:pPr algn="ctr" indent="0" marL="0">
              <a:buNone/>
            </a:pPr>
            <a:r>
              <a:rPr lang="en-US" sz="1600" dirty="0">
                <a:solidFill>
                  <a:srgbClr val="0D2644"/>
                </a:solidFill>
                <a:latin typeface="Avenir Next" pitchFamily="34" charset="0"/>
                <a:ea typeface="Avenir Next" pitchFamily="34" charset="-122"/>
                <a:cs typeface="Avenir Next" pitchFamily="34" charset="-120"/>
              </a:rPr>
              <a:t>$138.10 - $414.61</a:t>
            </a:r>
            <a:pPr algn="ctr" indent="0" marL="0">
              <a:buNone/>
            </a:pPr>
            <a:r>
              <a:rPr lang="en-US" sz="1600" b="1" dirty="0">
                <a:solidFill>
                  <a:srgbClr val="0D2644"/>
                </a:solidFill>
                <a:latin typeface="Avenir Next" pitchFamily="34" charset="0"/>
                <a:ea typeface="Avenir Next" pitchFamily="34" charset="-122"/>
                <a:cs typeface="Avenir Next" pitchFamily="34" charset="-120"/>
              </a:rPr>
              <a:t>   |   YoY Return: </a:t>
            </a:r>
            <a:pPr algn="ctr" indent="0" marL="0">
              <a:buNone/>
            </a:pPr>
            <a:r>
              <a:rPr lang="en-US" sz="1600" b="1" dirty="0">
                <a:solidFill>
                  <a:srgbClr val="0A5C36"/>
                </a:solidFill>
                <a:latin typeface="Avenir Next" pitchFamily="34" charset="0"/>
                <a:ea typeface="Avenir Next" pitchFamily="34" charset="-122"/>
                <a:cs typeface="Avenir Next" pitchFamily="34" charset="-120"/>
              </a:rPr>
              <a:t>+116%</a:t>
            </a:r>
            <a:endParaRPr lang="en-US" sz="1600" dirty="0"/>
          </a:p>
        </p:txBody>
      </p:sp>
      <p:sp>
        <p:nvSpPr>
          <p:cNvPr id="18" name="Text 16"/>
          <p:cNvSpPr/>
          <p:nvPr/>
        </p:nvSpPr>
        <p:spPr>
          <a:xfrm>
            <a:off x="640080" y="3840480"/>
            <a:ext cx="7863840" cy="457200"/>
          </a:xfrm>
          <a:prstGeom prst="rect">
            <a:avLst/>
          </a:prstGeom>
          <a:noFill/>
          <a:ln/>
        </p:spPr>
        <p:txBody>
          <a:bodyPr wrap="square" rtlCol="0" anchor="ctr"/>
          <a:lstStyle/>
          <a:p>
            <a:pPr algn="ctr" indent="0" marL="0">
              <a:buNone/>
            </a:pPr>
            <a:r>
              <a:rPr lang="en-US" sz="1600" b="1" dirty="0">
                <a:solidFill>
                  <a:srgbClr val="0D2644"/>
                </a:solidFill>
                <a:latin typeface="Avenir Next" pitchFamily="34" charset="0"/>
                <a:ea typeface="Avenir Next" pitchFamily="34" charset="-122"/>
                <a:cs typeface="Avenir Next" pitchFamily="34" charset="-120"/>
              </a:rPr>
              <a:t>Market Cap: </a:t>
            </a:r>
            <a:pPr algn="ctr" indent="0" marL="0">
              <a:buNone/>
            </a:pPr>
            <a:r>
              <a:rPr lang="en-US" sz="1600" dirty="0">
                <a:solidFill>
                  <a:srgbClr val="0D2644"/>
                </a:solidFill>
                <a:latin typeface="Avenir Next" pitchFamily="34" charset="0"/>
                <a:ea typeface="Avenir Next" pitchFamily="34" charset="-122"/>
                <a:cs typeface="Avenir Next" pitchFamily="34" charset="-120"/>
              </a:rPr>
              <a:t>$1.64 Trillion</a:t>
            </a:r>
            <a:pPr algn="ctr" indent="0" marL="0">
              <a:buNone/>
            </a:pPr>
            <a:r>
              <a:rPr lang="en-US" sz="1600" b="1" dirty="0">
                <a:solidFill>
                  <a:srgbClr val="0D2644"/>
                </a:solidFill>
                <a:latin typeface="Avenir Next" pitchFamily="34" charset="0"/>
                <a:ea typeface="Avenir Next" pitchFamily="34" charset="-122"/>
                <a:cs typeface="Avenir Next" pitchFamily="34" charset="-120"/>
              </a:rPr>
              <a:t>   |   Gross Margin: </a:t>
            </a:r>
            <a:pPr algn="ctr" indent="0" marL="0">
              <a:buNone/>
            </a:pPr>
            <a:r>
              <a:rPr lang="en-US" sz="1600" dirty="0">
                <a:solidFill>
                  <a:srgbClr val="0D2644"/>
                </a:solidFill>
                <a:latin typeface="Avenir Next" pitchFamily="34" charset="0"/>
                <a:ea typeface="Avenir Next" pitchFamily="34" charset="-122"/>
                <a:cs typeface="Avenir Next" pitchFamily="34" charset="-120"/>
              </a:rPr>
              <a:t>68%</a:t>
            </a:r>
            <a:pPr algn="ctr" indent="0" marL="0">
              <a:buNone/>
            </a:pPr>
            <a:r>
              <a:rPr lang="en-US" sz="1600" b="1" dirty="0">
                <a:solidFill>
                  <a:srgbClr val="0D2644"/>
                </a:solidFill>
                <a:latin typeface="Avenir Next" pitchFamily="34" charset="0"/>
                <a:ea typeface="Avenir Next" pitchFamily="34" charset="-122"/>
                <a:cs typeface="Avenir Next" pitchFamily="34" charset="-120"/>
              </a:rPr>
              <a:t>   |   EBITDA Margin: </a:t>
            </a:r>
            <a:pPr algn="ctr" indent="0" marL="0">
              <a:buNone/>
            </a:pPr>
            <a:r>
              <a:rPr lang="en-US" sz="1600" dirty="0">
                <a:solidFill>
                  <a:srgbClr val="0D2644"/>
                </a:solidFill>
                <a:latin typeface="Avenir Next" pitchFamily="34" charset="0"/>
                <a:ea typeface="Avenir Next" pitchFamily="34" charset="-122"/>
                <a:cs typeface="Avenir Next" pitchFamily="34" charset="-120"/>
              </a:rPr>
              <a:t>35%</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644"/>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2103120"/>
            <a:ext cx="7315200" cy="914400"/>
          </a:xfrm>
          <a:prstGeom prst="rect">
            <a:avLst/>
          </a:prstGeom>
          <a:noFill/>
          <a:ln/>
        </p:spPr>
        <p:txBody>
          <a:bodyPr wrap="square"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AI Strategy Deep Dive</a:t>
            </a:r>
            <a:endParaRPr lang="en-US" sz="4400" dirty="0"/>
          </a:p>
        </p:txBody>
      </p:sp>
      <p:sp>
        <p:nvSpPr>
          <p:cNvPr id="4" name="Text 2"/>
          <p:cNvSpPr/>
          <p:nvPr/>
        </p:nvSpPr>
        <p:spPr>
          <a:xfrm>
            <a:off x="457200" y="3108960"/>
            <a:ext cx="7315200" cy="457200"/>
          </a:xfrm>
          <a:prstGeom prst="rect">
            <a:avLst/>
          </a:prstGeom>
          <a:noFill/>
          <a:ln/>
        </p:spPr>
        <p:txBody>
          <a:bodyPr wrap="square" rtlCol="0" anchor="ctr"/>
          <a:lstStyle/>
          <a:p>
            <a:pPr indent="0" marL="0">
              <a:buNone/>
            </a:pPr>
            <a:r>
              <a:rPr lang="en-US" sz="2200" dirty="0">
                <a:solidFill>
                  <a:srgbClr val="8FB8FF"/>
                </a:solidFill>
                <a:latin typeface="Avenir Next" pitchFamily="34" charset="0"/>
                <a:ea typeface="Avenir Next" pitchFamily="34" charset="-122"/>
                <a:cs typeface="Avenir Next" pitchFamily="34" charset="-120"/>
              </a:rPr>
              <a:t>Custom Accelerators &amp; Networking</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The Custom Accelerator Thesis</a:t>
            </a:r>
            <a:endParaRPr lang="en-US" sz="3600" dirty="0"/>
          </a:p>
        </p:txBody>
      </p:sp>
      <p:sp>
        <p:nvSpPr>
          <p:cNvPr id="4" name="Text 2"/>
          <p:cNvSpPr/>
          <p:nvPr/>
        </p:nvSpPr>
        <p:spPr>
          <a:xfrm>
            <a:off x="457200" y="1280160"/>
            <a:ext cx="8229600" cy="3657600"/>
          </a:xfrm>
          <a:prstGeom prst="rect">
            <a:avLst/>
          </a:prstGeom>
          <a:noFill/>
          <a:ln/>
        </p:spPr>
        <p:txBody>
          <a:bodyPr wrap="square" rtlCol="0" anchor="t"/>
          <a:lstStyle/>
          <a:p>
            <a:pPr indent="0" marL="0">
              <a:buNone/>
            </a:pPr>
            <a:r>
              <a:rPr lang="en-US" sz="1800" b="1" dirty="0">
                <a:solidFill>
                  <a:srgbClr val="236CFF"/>
                </a:solidFill>
                <a:latin typeface="Avenir Next" pitchFamily="34" charset="0"/>
                <a:ea typeface="Avenir Next" pitchFamily="34" charset="-122"/>
                <a:cs typeface="Avenir Next" pitchFamily="34" charset="-120"/>
              </a:rPr>
              <a:t>Why Custom Chips Beat General-Purpose GPUs for Inference:
</a:t>
            </a:r>
            <a:pPr indent="0" marL="0">
              <a:buNone/>
            </a:pPr>
            <a:r>
              <a:rPr lang="en-US" sz="1800" b="1" dirty="0">
                <a:solidFill>
                  <a:srgbClr val="000000"/>
                </a:solidFill>
                <a:latin typeface="Avenir Next" pitchFamily="34" charset="0"/>
                <a:ea typeface="Avenir Next" pitchFamily="34" charset="-122"/>
                <a:cs typeface="Avenir Next" pitchFamily="34" charset="-120"/>
              </a:rPr>
              <a:t>1. </a:t>
            </a:r>
            <a:pPr indent="0" marL="0">
              <a:buNone/>
            </a:pPr>
            <a:r>
              <a:rPr lang="en-US" sz="1800" b="1" dirty="0">
                <a:solidFill>
                  <a:srgbClr val="0D2644"/>
                </a:solidFill>
                <a:latin typeface="Avenir Next" pitchFamily="34" charset="0"/>
                <a:ea typeface="Avenir Next" pitchFamily="34" charset="-122"/>
                <a:cs typeface="Avenir Next" pitchFamily="34" charset="-120"/>
              </a:rPr>
              <a:t>Training vs. Inference: </a:t>
            </a:r>
            <a:pPr indent="0" marL="0">
              <a:buNone/>
            </a:pPr>
            <a:r>
              <a:rPr lang="en-US" sz="1800" dirty="0">
                <a:solidFill>
                  <a:srgbClr val="4A4A4A"/>
                </a:solidFill>
                <a:latin typeface="Avenir Next" pitchFamily="34" charset="0"/>
                <a:ea typeface="Avenir Next" pitchFamily="34" charset="-122"/>
                <a:cs typeface="Avenir Next" pitchFamily="34" charset="-120"/>
              </a:rPr>
              <a:t>Training happens episodically; inference runs continuously at massive scale
</a:t>
            </a:r>
            <a:pPr indent="0" marL="0">
              <a:buNone/>
            </a:pPr>
            <a:r>
              <a:rPr lang="en-US" sz="1800" b="1" dirty="0">
                <a:solidFill>
                  <a:srgbClr val="000000"/>
                </a:solidFill>
                <a:latin typeface="Avenir Next" pitchFamily="34" charset="0"/>
                <a:ea typeface="Avenir Next" pitchFamily="34" charset="-122"/>
                <a:cs typeface="Avenir Next" pitchFamily="34" charset="-120"/>
              </a:rPr>
              <a:t>2. </a:t>
            </a:r>
            <a:pPr indent="0" marL="0">
              <a:buNone/>
            </a:pPr>
            <a:r>
              <a:rPr lang="en-US" sz="1800" b="1" dirty="0">
                <a:solidFill>
                  <a:srgbClr val="0D2644"/>
                </a:solidFill>
                <a:latin typeface="Avenir Next" pitchFamily="34" charset="0"/>
                <a:ea typeface="Avenir Next" pitchFamily="34" charset="-122"/>
                <a:cs typeface="Avenir Next" pitchFamily="34" charset="-120"/>
              </a:rPr>
              <a:t>Efficiency Gains: </a:t>
            </a:r>
            <a:pPr indent="0" marL="0">
              <a:buNone/>
            </a:pPr>
            <a:r>
              <a:rPr lang="en-US" sz="1800" dirty="0">
                <a:solidFill>
                  <a:srgbClr val="4A4A4A"/>
                </a:solidFill>
                <a:latin typeface="Avenir Next" pitchFamily="34" charset="0"/>
                <a:ea typeface="Avenir Next" pitchFamily="34" charset="-122"/>
                <a:cs typeface="Avenir Next" pitchFamily="34" charset="-120"/>
              </a:rPr>
              <a:t>Custom chips deliver 3-5x better performance per watt vs. general GPUs
</a:t>
            </a:r>
            <a:pPr indent="0" marL="0">
              <a:buNone/>
            </a:pPr>
            <a:r>
              <a:rPr lang="en-US" sz="1800" b="1" dirty="0">
                <a:solidFill>
                  <a:srgbClr val="000000"/>
                </a:solidFill>
                <a:latin typeface="Avenir Next" pitchFamily="34" charset="0"/>
                <a:ea typeface="Avenir Next" pitchFamily="34" charset="-122"/>
                <a:cs typeface="Avenir Next" pitchFamily="34" charset="-120"/>
              </a:rPr>
              <a:t>3. </a:t>
            </a:r>
            <a:pPr indent="0" marL="0">
              <a:buNone/>
            </a:pPr>
            <a:r>
              <a:rPr lang="en-US" sz="1800" b="1" dirty="0">
                <a:solidFill>
                  <a:srgbClr val="0D2644"/>
                </a:solidFill>
                <a:latin typeface="Avenir Next" pitchFamily="34" charset="0"/>
                <a:ea typeface="Avenir Next" pitchFamily="34" charset="-122"/>
                <a:cs typeface="Avenir Next" pitchFamily="34" charset="-120"/>
              </a:rPr>
              <a:t>Cost Savings: </a:t>
            </a:r>
            <a:pPr indent="0" marL="0">
              <a:buNone/>
            </a:pPr>
            <a:r>
              <a:rPr lang="en-US" sz="1800" dirty="0">
                <a:solidFill>
                  <a:srgbClr val="4A4A4A"/>
                </a:solidFill>
                <a:latin typeface="Avenir Next" pitchFamily="34" charset="0"/>
                <a:ea typeface="Avenir Next" pitchFamily="34" charset="-122"/>
                <a:cs typeface="Avenir Next" pitchFamily="34" charset="-120"/>
              </a:rPr>
              <a:t>At ChatGPT scale, efficiency improvements save tens of billions annually
</a:t>
            </a:r>
            <a:pPr indent="0" marL="0">
              <a:buNone/>
            </a:pPr>
            <a:r>
              <a:rPr lang="en-US" sz="1800" b="1" dirty="0">
                <a:solidFill>
                  <a:srgbClr val="000000"/>
                </a:solidFill>
                <a:latin typeface="Avenir Next" pitchFamily="34" charset="0"/>
                <a:ea typeface="Avenir Next" pitchFamily="34" charset="-122"/>
                <a:cs typeface="Avenir Next" pitchFamily="34" charset="-120"/>
              </a:rPr>
              <a:t>4. </a:t>
            </a:r>
            <a:pPr indent="0" marL="0">
              <a:buNone/>
            </a:pPr>
            <a:r>
              <a:rPr lang="en-US" sz="1800" b="1" dirty="0">
                <a:solidFill>
                  <a:srgbClr val="0D2644"/>
                </a:solidFill>
                <a:latin typeface="Avenir Next" pitchFamily="34" charset="0"/>
                <a:ea typeface="Avenir Next" pitchFamily="34" charset="-122"/>
                <a:cs typeface="Avenir Next" pitchFamily="34" charset="-120"/>
              </a:rPr>
              <a:t>Workload Optimization: </a:t>
            </a:r>
            <a:pPr indent="0" marL="0">
              <a:buNone/>
            </a:pPr>
            <a:r>
              <a:rPr lang="en-US" sz="1800" dirty="0">
                <a:solidFill>
                  <a:srgbClr val="4A4A4A"/>
                </a:solidFill>
                <a:latin typeface="Avenir Next" pitchFamily="34" charset="0"/>
                <a:ea typeface="Avenir Next" pitchFamily="34" charset="-122"/>
                <a:cs typeface="Avenir Next" pitchFamily="34" charset="-120"/>
              </a:rPr>
              <a:t>Chips designed for specific model architectures outperform generic solutions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Elite Hyperscaler Customer Base</a:t>
            </a:r>
            <a:endParaRPr lang="en-US" sz="3600" dirty="0"/>
          </a:p>
        </p:txBody>
      </p:sp>
      <p:sp>
        <p:nvSpPr>
          <p:cNvPr id="4" name="Shape 2"/>
          <p:cNvSpPr/>
          <p:nvPr/>
        </p:nvSpPr>
        <p:spPr>
          <a:xfrm>
            <a:off x="457200" y="1371600"/>
            <a:ext cx="8229600" cy="457200"/>
          </a:xfrm>
          <a:prstGeom prst="rect">
            <a:avLst/>
          </a:prstGeom>
          <a:solidFill>
            <a:srgbClr val="236CFF"/>
          </a:solidFill>
          <a:ln/>
        </p:spPr>
      </p:sp>
      <p:sp>
        <p:nvSpPr>
          <p:cNvPr id="5" name="Text 3"/>
          <p:cNvSpPr/>
          <p:nvPr/>
        </p:nvSpPr>
        <p:spPr>
          <a:xfrm>
            <a:off x="457200" y="1371600"/>
            <a:ext cx="8229600" cy="457200"/>
          </a:xfrm>
          <a:prstGeom prst="rect">
            <a:avLst/>
          </a:prstGeom>
          <a:noFill/>
          <a:ln/>
        </p:spPr>
        <p:txBody>
          <a:bodyPr wrap="square" rtlCol="0" anchor="ctr"/>
          <a:lstStyle/>
          <a:p>
            <a:pPr indent="0" marL="0">
              <a:buNone/>
            </a:pPr>
            <a:r>
              <a:rPr lang="en-US" sz="1400" b="1" dirty="0">
                <a:solidFill>
                  <a:srgbClr val="FFFFFF"/>
                </a:solidFill>
                <a:latin typeface="Avenir Next" pitchFamily="34" charset="0"/>
                <a:ea typeface="Avenir Next" pitchFamily="34" charset="-122"/>
                <a:cs typeface="Avenir Next" pitchFamily="34" charset="-120"/>
              </a:rPr>
              <a:t>Customer                    Product                    Status</a:t>
            </a:r>
            <a:endParaRPr lang="en-US" sz="1400" dirty="0"/>
          </a:p>
        </p:txBody>
      </p:sp>
      <p:sp>
        <p:nvSpPr>
          <p:cNvPr id="6" name="Shape 4"/>
          <p:cNvSpPr/>
          <p:nvPr/>
        </p:nvSpPr>
        <p:spPr>
          <a:xfrm>
            <a:off x="457200" y="1920240"/>
            <a:ext cx="8229600" cy="457200"/>
          </a:xfrm>
          <a:prstGeom prst="rect">
            <a:avLst/>
          </a:prstGeom>
          <a:solidFill>
            <a:srgbClr val="E8F1FF"/>
          </a:solidFill>
          <a:ln/>
        </p:spPr>
      </p:sp>
      <p:sp>
        <p:nvSpPr>
          <p:cNvPr id="7" name="Text 5"/>
          <p:cNvSpPr/>
          <p:nvPr/>
        </p:nvSpPr>
        <p:spPr>
          <a:xfrm>
            <a:off x="548640" y="1920240"/>
            <a:ext cx="1828800" cy="457200"/>
          </a:xfrm>
          <a:prstGeom prst="rect">
            <a:avLst/>
          </a:prstGeom>
          <a:noFill/>
          <a:ln/>
        </p:spPr>
        <p:txBody>
          <a:bodyPr wrap="square" rtlCol="0" anchor="ctr"/>
          <a:lstStyle/>
          <a:p>
            <a:pPr indent="0" marL="0">
              <a:buNone/>
            </a:pPr>
            <a:r>
              <a:rPr lang="en-US" sz="1400" b="1" dirty="0">
                <a:solidFill>
                  <a:srgbClr val="0D2644"/>
                </a:solidFill>
                <a:latin typeface="Avenir Next" pitchFamily="34" charset="0"/>
                <a:ea typeface="Avenir Next" pitchFamily="34" charset="-122"/>
                <a:cs typeface="Avenir Next" pitchFamily="34" charset="-120"/>
              </a:rPr>
              <a:t>Google</a:t>
            </a:r>
            <a:endParaRPr lang="en-US" sz="1400" dirty="0"/>
          </a:p>
        </p:txBody>
      </p:sp>
      <p:sp>
        <p:nvSpPr>
          <p:cNvPr id="8" name="Text 6"/>
          <p:cNvSpPr/>
          <p:nvPr/>
        </p:nvSpPr>
        <p:spPr>
          <a:xfrm>
            <a:off x="2560320" y="1920240"/>
            <a:ext cx="320040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TPU (Tensor Processing Unit)</a:t>
            </a:r>
            <a:endParaRPr lang="en-US" sz="1400" dirty="0"/>
          </a:p>
        </p:txBody>
      </p:sp>
      <p:sp>
        <p:nvSpPr>
          <p:cNvPr id="9" name="Text 7"/>
          <p:cNvSpPr/>
          <p:nvPr/>
        </p:nvSpPr>
        <p:spPr>
          <a:xfrm>
            <a:off x="5943600" y="1920240"/>
            <a:ext cx="256032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Long-standing, 3M+ units/year</a:t>
            </a:r>
            <a:endParaRPr lang="en-US" sz="1400" dirty="0"/>
          </a:p>
        </p:txBody>
      </p:sp>
      <p:sp>
        <p:nvSpPr>
          <p:cNvPr id="10" name="Shape 8"/>
          <p:cNvSpPr/>
          <p:nvPr/>
        </p:nvSpPr>
        <p:spPr>
          <a:xfrm>
            <a:off x="457200" y="2423160"/>
            <a:ext cx="8229600" cy="457200"/>
          </a:xfrm>
          <a:prstGeom prst="rect">
            <a:avLst/>
          </a:prstGeom>
          <a:solidFill>
            <a:srgbClr val="FFFFFF"/>
          </a:solidFill>
          <a:ln/>
        </p:spPr>
      </p:sp>
      <p:sp>
        <p:nvSpPr>
          <p:cNvPr id="11" name="Text 9"/>
          <p:cNvSpPr/>
          <p:nvPr/>
        </p:nvSpPr>
        <p:spPr>
          <a:xfrm>
            <a:off x="548640" y="2423160"/>
            <a:ext cx="1828800" cy="457200"/>
          </a:xfrm>
          <a:prstGeom prst="rect">
            <a:avLst/>
          </a:prstGeom>
          <a:noFill/>
          <a:ln/>
        </p:spPr>
        <p:txBody>
          <a:bodyPr wrap="square" rtlCol="0" anchor="ctr"/>
          <a:lstStyle/>
          <a:p>
            <a:pPr indent="0" marL="0">
              <a:buNone/>
            </a:pPr>
            <a:r>
              <a:rPr lang="en-US" sz="1400" b="1" dirty="0">
                <a:solidFill>
                  <a:srgbClr val="0D2644"/>
                </a:solidFill>
                <a:latin typeface="Avenir Next" pitchFamily="34" charset="0"/>
                <a:ea typeface="Avenir Next" pitchFamily="34" charset="-122"/>
                <a:cs typeface="Avenir Next" pitchFamily="34" charset="-120"/>
              </a:rPr>
              <a:t>Meta</a:t>
            </a:r>
            <a:endParaRPr lang="en-US" sz="1400" dirty="0"/>
          </a:p>
        </p:txBody>
      </p:sp>
      <p:sp>
        <p:nvSpPr>
          <p:cNvPr id="12" name="Text 10"/>
          <p:cNvSpPr/>
          <p:nvPr/>
        </p:nvSpPr>
        <p:spPr>
          <a:xfrm>
            <a:off x="2560320" y="2423160"/>
            <a:ext cx="320040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Custom AI Accelerator</a:t>
            </a:r>
            <a:endParaRPr lang="en-US" sz="1400" dirty="0"/>
          </a:p>
        </p:txBody>
      </p:sp>
      <p:sp>
        <p:nvSpPr>
          <p:cNvPr id="13" name="Text 11"/>
          <p:cNvSpPr/>
          <p:nvPr/>
        </p:nvSpPr>
        <p:spPr>
          <a:xfrm>
            <a:off x="5943600" y="2423160"/>
            <a:ext cx="256032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Active partner</a:t>
            </a:r>
            <a:endParaRPr lang="en-US" sz="1400" dirty="0"/>
          </a:p>
        </p:txBody>
      </p:sp>
      <p:sp>
        <p:nvSpPr>
          <p:cNvPr id="14" name="Shape 12"/>
          <p:cNvSpPr/>
          <p:nvPr/>
        </p:nvSpPr>
        <p:spPr>
          <a:xfrm>
            <a:off x="457200" y="2926080"/>
            <a:ext cx="8229600" cy="457200"/>
          </a:xfrm>
          <a:prstGeom prst="rect">
            <a:avLst/>
          </a:prstGeom>
          <a:solidFill>
            <a:srgbClr val="E8F1FF"/>
          </a:solidFill>
          <a:ln/>
        </p:spPr>
      </p:sp>
      <p:sp>
        <p:nvSpPr>
          <p:cNvPr id="15" name="Text 13"/>
          <p:cNvSpPr/>
          <p:nvPr/>
        </p:nvSpPr>
        <p:spPr>
          <a:xfrm>
            <a:off x="548640" y="2926080"/>
            <a:ext cx="1828800" cy="457200"/>
          </a:xfrm>
          <a:prstGeom prst="rect">
            <a:avLst/>
          </a:prstGeom>
          <a:noFill/>
          <a:ln/>
        </p:spPr>
        <p:txBody>
          <a:bodyPr wrap="square" rtlCol="0" anchor="ctr"/>
          <a:lstStyle/>
          <a:p>
            <a:pPr indent="0" marL="0">
              <a:buNone/>
            </a:pPr>
            <a:r>
              <a:rPr lang="en-US" sz="1400" b="1" dirty="0">
                <a:solidFill>
                  <a:srgbClr val="0D2644"/>
                </a:solidFill>
                <a:latin typeface="Avenir Next" pitchFamily="34" charset="0"/>
                <a:ea typeface="Avenir Next" pitchFamily="34" charset="-122"/>
                <a:cs typeface="Avenir Next" pitchFamily="34" charset="-120"/>
              </a:rPr>
              <a:t>ByteDance</a:t>
            </a:r>
            <a:endParaRPr lang="en-US" sz="1400" dirty="0"/>
          </a:p>
        </p:txBody>
      </p:sp>
      <p:sp>
        <p:nvSpPr>
          <p:cNvPr id="16" name="Text 14"/>
          <p:cNvSpPr/>
          <p:nvPr/>
        </p:nvSpPr>
        <p:spPr>
          <a:xfrm>
            <a:off x="2560320" y="2926080"/>
            <a:ext cx="320040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Custom AI Accelerator</a:t>
            </a:r>
            <a:endParaRPr lang="en-US" sz="1400" dirty="0"/>
          </a:p>
        </p:txBody>
      </p:sp>
      <p:sp>
        <p:nvSpPr>
          <p:cNvPr id="17" name="Text 15"/>
          <p:cNvSpPr/>
          <p:nvPr/>
        </p:nvSpPr>
        <p:spPr>
          <a:xfrm>
            <a:off x="5943600" y="2926080"/>
            <a:ext cx="256032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Active partner</a:t>
            </a:r>
            <a:endParaRPr lang="en-US" sz="1400" dirty="0"/>
          </a:p>
        </p:txBody>
      </p:sp>
      <p:sp>
        <p:nvSpPr>
          <p:cNvPr id="18" name="Shape 16"/>
          <p:cNvSpPr/>
          <p:nvPr/>
        </p:nvSpPr>
        <p:spPr>
          <a:xfrm>
            <a:off x="457200" y="3429000"/>
            <a:ext cx="8229600" cy="457200"/>
          </a:xfrm>
          <a:prstGeom prst="rect">
            <a:avLst/>
          </a:prstGeom>
          <a:solidFill>
            <a:srgbClr val="FFFFFF"/>
          </a:solidFill>
          <a:ln/>
        </p:spPr>
      </p:sp>
      <p:sp>
        <p:nvSpPr>
          <p:cNvPr id="19" name="Text 17"/>
          <p:cNvSpPr/>
          <p:nvPr/>
        </p:nvSpPr>
        <p:spPr>
          <a:xfrm>
            <a:off x="548640" y="3429000"/>
            <a:ext cx="1828800" cy="457200"/>
          </a:xfrm>
          <a:prstGeom prst="rect">
            <a:avLst/>
          </a:prstGeom>
          <a:noFill/>
          <a:ln/>
        </p:spPr>
        <p:txBody>
          <a:bodyPr wrap="square" rtlCol="0" anchor="ctr"/>
          <a:lstStyle/>
          <a:p>
            <a:pPr indent="0" marL="0">
              <a:buNone/>
            </a:pPr>
            <a:r>
              <a:rPr lang="en-US" sz="1400" b="1" dirty="0">
                <a:solidFill>
                  <a:srgbClr val="0D2644"/>
                </a:solidFill>
                <a:latin typeface="Avenir Next" pitchFamily="34" charset="0"/>
                <a:ea typeface="Avenir Next" pitchFamily="34" charset="-122"/>
                <a:cs typeface="Avenir Next" pitchFamily="34" charset="-120"/>
              </a:rPr>
              <a:t>OpenAI</a:t>
            </a:r>
            <a:endParaRPr lang="en-US" sz="1400" dirty="0"/>
          </a:p>
        </p:txBody>
      </p:sp>
      <p:sp>
        <p:nvSpPr>
          <p:cNvPr id="20" name="Text 18"/>
          <p:cNvSpPr/>
          <p:nvPr/>
        </p:nvSpPr>
        <p:spPr>
          <a:xfrm>
            <a:off x="2560320" y="3429000"/>
            <a:ext cx="320040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Custom Inference Chip</a:t>
            </a:r>
            <a:endParaRPr lang="en-US" sz="1400" dirty="0"/>
          </a:p>
        </p:txBody>
      </p:sp>
      <p:sp>
        <p:nvSpPr>
          <p:cNvPr id="21" name="Text 19"/>
          <p:cNvSpPr/>
          <p:nvPr/>
        </p:nvSpPr>
        <p:spPr>
          <a:xfrm>
            <a:off x="5943600" y="3429000"/>
            <a:ext cx="2560320" cy="457200"/>
          </a:xfrm>
          <a:prstGeom prst="rect">
            <a:avLst/>
          </a:prstGeom>
          <a:noFill/>
          <a:ln/>
        </p:spPr>
        <p:txBody>
          <a:bodyPr wrap="square" rtlCol="0" anchor="ctr"/>
          <a:lstStyle/>
          <a:p>
            <a:pPr indent="0" marL="0">
              <a:buNone/>
            </a:pPr>
            <a:r>
              <a:rPr lang="en-US" sz="1400" b="1" dirty="0">
                <a:solidFill>
                  <a:srgbClr val="0A5C36"/>
                </a:solidFill>
                <a:latin typeface="Avenir Next" pitchFamily="34" charset="0"/>
                <a:ea typeface="Avenir Next" pitchFamily="34" charset="-122"/>
                <a:cs typeface="Avenir Next" pitchFamily="34" charset="-120"/>
              </a:rPr>
              <a:t>NEW: $10B+ order</a:t>
            </a:r>
            <a:endParaRPr lang="en-US" sz="1400" dirty="0"/>
          </a:p>
        </p:txBody>
      </p:sp>
      <p:sp>
        <p:nvSpPr>
          <p:cNvPr id="22" name="Shape 20"/>
          <p:cNvSpPr/>
          <p:nvPr/>
        </p:nvSpPr>
        <p:spPr>
          <a:xfrm>
            <a:off x="457200" y="3931920"/>
            <a:ext cx="8229600" cy="457200"/>
          </a:xfrm>
          <a:prstGeom prst="rect">
            <a:avLst/>
          </a:prstGeom>
          <a:solidFill>
            <a:srgbClr val="E8F1FF"/>
          </a:solidFill>
          <a:ln/>
        </p:spPr>
      </p:sp>
      <p:sp>
        <p:nvSpPr>
          <p:cNvPr id="23" name="Text 21"/>
          <p:cNvSpPr/>
          <p:nvPr/>
        </p:nvSpPr>
        <p:spPr>
          <a:xfrm>
            <a:off x="548640" y="3931920"/>
            <a:ext cx="1828800" cy="457200"/>
          </a:xfrm>
          <a:prstGeom prst="rect">
            <a:avLst/>
          </a:prstGeom>
          <a:noFill/>
          <a:ln/>
        </p:spPr>
        <p:txBody>
          <a:bodyPr wrap="square" rtlCol="0" anchor="ctr"/>
          <a:lstStyle/>
          <a:p>
            <a:pPr indent="0" marL="0">
              <a:buNone/>
            </a:pPr>
            <a:r>
              <a:rPr lang="en-US" sz="1400" b="1" dirty="0">
                <a:solidFill>
                  <a:srgbClr val="0D2644"/>
                </a:solidFill>
                <a:latin typeface="Avenir Next" pitchFamily="34" charset="0"/>
                <a:ea typeface="Avenir Next" pitchFamily="34" charset="-122"/>
                <a:cs typeface="Avenir Next" pitchFamily="34" charset="-120"/>
              </a:rPr>
              <a:t>Microsoft</a:t>
            </a:r>
            <a:endParaRPr lang="en-US" sz="1400" dirty="0"/>
          </a:p>
        </p:txBody>
      </p:sp>
      <p:sp>
        <p:nvSpPr>
          <p:cNvPr id="24" name="Text 22"/>
          <p:cNvSpPr/>
          <p:nvPr/>
        </p:nvSpPr>
        <p:spPr>
          <a:xfrm>
            <a:off x="2560320" y="3931920"/>
            <a:ext cx="320040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Unknown</a:t>
            </a:r>
            <a:endParaRPr lang="en-US" sz="1400" dirty="0"/>
          </a:p>
        </p:txBody>
      </p:sp>
      <p:sp>
        <p:nvSpPr>
          <p:cNvPr id="25" name="Text 23"/>
          <p:cNvSpPr/>
          <p:nvPr/>
        </p:nvSpPr>
        <p:spPr>
          <a:xfrm>
            <a:off x="5943600" y="3931920"/>
            <a:ext cx="2560320" cy="457200"/>
          </a:xfrm>
          <a:prstGeom prst="rect">
            <a:avLst/>
          </a:prstGeom>
          <a:noFill/>
          <a:ln/>
        </p:spPr>
        <p:txBody>
          <a:bodyPr wrap="square" rtlCol="0" anchor="ctr"/>
          <a:lstStyle/>
          <a:p>
            <a:pPr indent="0" marL="0">
              <a:buNone/>
            </a:pPr>
            <a:r>
              <a:rPr lang="en-US" sz="1400" dirty="0">
                <a:solidFill>
                  <a:srgbClr val="4A4A4A"/>
                </a:solidFill>
                <a:latin typeface="Avenir Next" pitchFamily="34" charset="0"/>
                <a:ea typeface="Avenir Next" pitchFamily="34" charset="-122"/>
                <a:cs typeface="Avenir Next" pitchFamily="34" charset="-120"/>
              </a:rPr>
              <a:t>Potential 5th customer</a:t>
            </a:r>
            <a:endParaRPr lang="en-US" sz="1400" dirty="0"/>
          </a:p>
        </p:txBody>
      </p:sp>
      <p:sp>
        <p:nvSpPr>
          <p:cNvPr id="26" name="Shape 24"/>
          <p:cNvSpPr/>
          <p:nvPr/>
        </p:nvSpPr>
        <p:spPr>
          <a:xfrm>
            <a:off x="457200" y="4480560"/>
            <a:ext cx="8229600" cy="548640"/>
          </a:xfrm>
          <a:prstGeom prst="rect">
            <a:avLst/>
          </a:prstGeom>
          <a:solidFill>
            <a:srgbClr val="C4DBFF"/>
          </a:solidFill>
          <a:ln/>
        </p:spPr>
      </p:sp>
      <p:sp>
        <p:nvSpPr>
          <p:cNvPr id="27" name="Text 25"/>
          <p:cNvSpPr/>
          <p:nvPr/>
        </p:nvSpPr>
        <p:spPr>
          <a:xfrm>
            <a:off x="457200" y="4480560"/>
            <a:ext cx="8229600" cy="548640"/>
          </a:xfrm>
          <a:prstGeom prst="rect">
            <a:avLst/>
          </a:prstGeom>
          <a:noFill/>
          <a:ln/>
        </p:spPr>
        <p:txBody>
          <a:bodyPr wrap="square" rtlCol="0" anchor="ctr"/>
          <a:lstStyle/>
          <a:p>
            <a:pPr algn="ctr" indent="0" marL="0">
              <a:buNone/>
            </a:pPr>
            <a:r>
              <a:rPr lang="en-US" sz="1600" b="1" dirty="0">
                <a:solidFill>
                  <a:srgbClr val="0D2644"/>
                </a:solidFill>
                <a:latin typeface="Avenir Next" pitchFamily="34" charset="0"/>
                <a:ea typeface="Avenir Next" pitchFamily="34" charset="-122"/>
                <a:cs typeface="Avenir Next" pitchFamily="34" charset="-120"/>
              </a:rPr>
              <a:t>AI Semiconductor Revenue: </a:t>
            </a:r>
            <a:pPr algn="ctr" indent="0" marL="0">
              <a:buNone/>
            </a:pPr>
            <a:r>
              <a:rPr lang="en-US" sz="1600" b="1" dirty="0">
                <a:solidFill>
                  <a:srgbClr val="0A5C36"/>
                </a:solidFill>
                <a:latin typeface="Avenir Next" pitchFamily="34" charset="0"/>
                <a:ea typeface="Avenir Next" pitchFamily="34" charset="-122"/>
                <a:cs typeface="Avenir Next" pitchFamily="34" charset="-120"/>
              </a:rPr>
              <a:t>~$12B (+220% YoY)</a:t>
            </a:r>
            <a:pPr algn="ctr" indent="0" marL="0">
              <a:buNone/>
            </a:pPr>
            <a:r>
              <a:rPr lang="en-US" sz="1600" dirty="0">
                <a:solidFill>
                  <a:srgbClr val="0D2644"/>
                </a:solidFill>
                <a:latin typeface="Avenir Next" pitchFamily="34" charset="0"/>
                <a:ea typeface="Avenir Next" pitchFamily="34" charset="-122"/>
                <a:cs typeface="Avenir Next" pitchFamily="34" charset="-120"/>
              </a:rPr>
              <a:t>   |   </a:t>
            </a:r>
            <a:pPr algn="ctr" indent="0" marL="0">
              <a:buNone/>
            </a:pPr>
            <a:r>
              <a:rPr lang="en-US" sz="1600" b="1" dirty="0">
                <a:solidFill>
                  <a:srgbClr val="0D2644"/>
                </a:solidFill>
                <a:latin typeface="Avenir Next" pitchFamily="34" charset="0"/>
                <a:ea typeface="Avenir Next" pitchFamily="34" charset="-122"/>
                <a:cs typeface="Avenir Next" pitchFamily="34" charset="-120"/>
              </a:rPr>
              <a:t>AI Backlog: </a:t>
            </a:r>
            <a:pPr algn="ctr" indent="0" marL="0">
              <a:buNone/>
            </a:pPr>
            <a:r>
              <a:rPr lang="en-US" sz="1600" b="1" dirty="0">
                <a:solidFill>
                  <a:srgbClr val="236CFF"/>
                </a:solidFill>
                <a:latin typeface="Avenir Next" pitchFamily="34" charset="0"/>
                <a:ea typeface="Avenir Next" pitchFamily="34" charset="-122"/>
                <a:cs typeface="Avenir Next" pitchFamily="34" charset="-120"/>
              </a:rPr>
              <a:t>$73B through FY2027</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1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274320" y="914400"/>
            <a:ext cx="914400" cy="914400"/>
          </a:xfrm>
          <a:prstGeom prst="rect">
            <a:avLst/>
          </a:prstGeom>
          <a:noFill/>
          <a:ln/>
        </p:spPr>
        <p:txBody>
          <a:bodyPr wrap="square" rtlCol="0" anchor="ctr"/>
          <a:lstStyle/>
          <a:p>
            <a:pPr indent="0" marL="0">
              <a:buNone/>
            </a:pPr>
            <a:r>
              <a:rPr lang="en-US" sz="12000" dirty="0">
                <a:solidFill>
                  <a:srgbClr val="236CFF"/>
                </a:solidFill>
                <a:latin typeface="Georgia" pitchFamily="34" charset="0"/>
                <a:ea typeface="Georgia" pitchFamily="34" charset="-122"/>
                <a:cs typeface="Georgia" pitchFamily="34" charset="-120"/>
              </a:rPr>
              <a:t>"</a:t>
            </a:r>
            <a:endParaRPr lang="en-US" sz="12000" dirty="0"/>
          </a:p>
        </p:txBody>
      </p:sp>
      <p:sp>
        <p:nvSpPr>
          <p:cNvPr id="4" name="Text 2"/>
          <p:cNvSpPr/>
          <p:nvPr/>
        </p:nvSpPr>
        <p:spPr>
          <a:xfrm>
            <a:off x="1097280" y="1645920"/>
            <a:ext cx="6858000" cy="1828800"/>
          </a:xfrm>
          <a:prstGeom prst="rect">
            <a:avLst/>
          </a:prstGeom>
          <a:noFill/>
          <a:ln/>
        </p:spPr>
        <p:txBody>
          <a:bodyPr wrap="square" rtlCol="0" anchor="t"/>
          <a:lstStyle/>
          <a:p>
            <a:pPr indent="0" marL="0">
              <a:buNone/>
            </a:pPr>
            <a:r>
              <a:rPr lang="en-US" sz="2600" b="1" dirty="0">
                <a:solidFill>
                  <a:srgbClr val="0D2644"/>
                </a:solidFill>
                <a:latin typeface="Avenir Next" pitchFamily="34" charset="0"/>
                <a:ea typeface="Avenir Next" pitchFamily="34" charset="-122"/>
                <a:cs typeface="Avenir Next" pitchFamily="34" charset="-120"/>
              </a:rPr>
              <a:t>The most significant catalyst: OpenAI partnership validates the custom silicon thesis. Their $10B+ order for AI racks represents the beginning of a transformative relationship.</a:t>
            </a:r>
            <a:endParaRPr lang="en-US" sz="2600" dirty="0"/>
          </a:p>
        </p:txBody>
      </p:sp>
      <p:sp>
        <p:nvSpPr>
          <p:cNvPr id="5" name="Text 3"/>
          <p:cNvSpPr/>
          <p:nvPr/>
        </p:nvSpPr>
        <p:spPr>
          <a:xfrm>
            <a:off x="1097280" y="3200400"/>
            <a:ext cx="6858000" cy="914400"/>
          </a:xfrm>
          <a:prstGeom prst="rect">
            <a:avLst/>
          </a:prstGeom>
          <a:noFill/>
          <a:ln/>
        </p:spPr>
        <p:txBody>
          <a:bodyPr wrap="square" rtlCol="0" anchor="t"/>
          <a:lstStyle/>
          <a:p>
            <a:pPr indent="0" marL="0">
              <a:buNone/>
            </a:pPr>
            <a:r>
              <a:rPr lang="en-US" sz="1800" dirty="0">
                <a:solidFill>
                  <a:srgbClr val="4A4A4A"/>
                </a:solidFill>
                <a:latin typeface="Avenir Next" pitchFamily="34" charset="0"/>
                <a:ea typeface="Avenir Next" pitchFamily="34" charset="-122"/>
                <a:cs typeface="Avenir Next" pitchFamily="34" charset="-120"/>
              </a:rPr>
              <a:t>OpenAI chose Broadcom to reduce NVIDIA dependence and optimize for ChatGPT inference workloads. </a:t>
            </a:r>
            <a:pPr indent="0" marL="0">
              <a:buNone/>
            </a:pPr>
            <a:r>
              <a:rPr lang="en-US" sz="1800" dirty="0">
                <a:solidFill>
                  <a:srgbClr val="4A4A4A"/>
                </a:solidFill>
                <a:latin typeface="Avenir Next" pitchFamily="34" charset="0"/>
                <a:ea typeface="Avenir Next" pitchFamily="34" charset="-122"/>
                <a:cs typeface="Avenir Next" pitchFamily="34" charset="-120"/>
              </a:rPr>
              <a:t>Manufacturing capacity secured with TSMC; first chips expected 2026.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Technical Analysis</a:t>
            </a:r>
            <a:endParaRPr lang="en-US" sz="3600" dirty="0"/>
          </a:p>
        </p:txBody>
      </p:sp>
      <p:sp>
        <p:nvSpPr>
          <p:cNvPr id="4" name="Text 2"/>
          <p:cNvSpPr/>
          <p:nvPr/>
        </p:nvSpPr>
        <p:spPr>
          <a:xfrm>
            <a:off x="457200" y="1463040"/>
            <a:ext cx="2011680" cy="548640"/>
          </a:xfrm>
          <a:prstGeom prst="rect">
            <a:avLst/>
          </a:prstGeom>
          <a:noFill/>
          <a:ln/>
        </p:spPr>
        <p:txBody>
          <a:bodyPr wrap="square" rtlCol="0" anchor="ctr"/>
          <a:lstStyle/>
          <a:p>
            <a:pPr algn="ctr" indent="0" marL="0">
              <a:buNone/>
            </a:pPr>
            <a:r>
              <a:rPr lang="en-US" sz="2800" b="1" dirty="0">
                <a:solidFill>
                  <a:srgbClr val="236CFF"/>
                </a:solidFill>
                <a:latin typeface="Avenir Next" pitchFamily="34" charset="0"/>
                <a:ea typeface="Avenir Next" pitchFamily="34" charset="-122"/>
                <a:cs typeface="Avenir Next" pitchFamily="34" charset="-120"/>
              </a:rPr>
              <a:t>25.09</a:t>
            </a:r>
            <a:endParaRPr lang="en-US" sz="2800" dirty="0"/>
          </a:p>
        </p:txBody>
      </p:sp>
      <p:sp>
        <p:nvSpPr>
          <p:cNvPr id="5" name="Text 3"/>
          <p:cNvSpPr/>
          <p:nvPr/>
        </p:nvSpPr>
        <p:spPr>
          <a:xfrm>
            <a:off x="457200" y="2011680"/>
            <a:ext cx="2011680" cy="274320"/>
          </a:xfrm>
          <a:prstGeom prst="rect">
            <a:avLst/>
          </a:prstGeom>
          <a:noFill/>
          <a:ln/>
        </p:spPr>
        <p:txBody>
          <a:bodyPr wrap="square" rtlCol="0" anchor="ctr"/>
          <a:lstStyle/>
          <a:p>
            <a:pPr algn="ctr" indent="0" marL="0">
              <a:buNone/>
            </a:pPr>
            <a:r>
              <a:rPr lang="en-US" sz="1400" dirty="0">
                <a:solidFill>
                  <a:srgbClr val="4A4A4A"/>
                </a:solidFill>
                <a:latin typeface="Avenir Next" pitchFamily="34" charset="0"/>
                <a:ea typeface="Avenir Next" pitchFamily="34" charset="-122"/>
                <a:cs typeface="Avenir Next" pitchFamily="34" charset="-120"/>
              </a:rPr>
              <a:t>RSI (14)</a:t>
            </a:r>
            <a:endParaRPr lang="en-US" sz="1400" dirty="0"/>
          </a:p>
        </p:txBody>
      </p:sp>
      <p:sp>
        <p:nvSpPr>
          <p:cNvPr id="6" name="Text 4"/>
          <p:cNvSpPr/>
          <p:nvPr/>
        </p:nvSpPr>
        <p:spPr>
          <a:xfrm>
            <a:off x="457200" y="2286000"/>
            <a:ext cx="2011680" cy="274320"/>
          </a:xfrm>
          <a:prstGeom prst="rect">
            <a:avLst/>
          </a:prstGeom>
          <a:noFill/>
          <a:ln/>
        </p:spPr>
        <p:txBody>
          <a:bodyPr wrap="square" rtlCol="0" anchor="ctr"/>
          <a:lstStyle/>
          <a:p>
            <a:pPr algn="ctr" indent="0" marL="0">
              <a:buNone/>
            </a:pPr>
            <a:r>
              <a:rPr lang="en-US" sz="1400" b="1" dirty="0">
                <a:solidFill>
                  <a:srgbClr val="0A5C36"/>
                </a:solidFill>
                <a:latin typeface="Avenir Next" pitchFamily="34" charset="0"/>
                <a:ea typeface="Avenir Next" pitchFamily="34" charset="-122"/>
                <a:cs typeface="Avenir Next" pitchFamily="34" charset="-120"/>
              </a:rPr>
              <a:t>Oversold</a:t>
            </a:r>
            <a:endParaRPr lang="en-US" sz="1400" dirty="0"/>
          </a:p>
        </p:txBody>
      </p:sp>
      <p:sp>
        <p:nvSpPr>
          <p:cNvPr id="7" name="Text 5"/>
          <p:cNvSpPr/>
          <p:nvPr/>
        </p:nvSpPr>
        <p:spPr>
          <a:xfrm>
            <a:off x="2651760" y="1463040"/>
            <a:ext cx="2011680" cy="548640"/>
          </a:xfrm>
          <a:prstGeom prst="rect">
            <a:avLst/>
          </a:prstGeom>
          <a:noFill/>
          <a:ln/>
        </p:spPr>
        <p:txBody>
          <a:bodyPr wrap="square" rtlCol="0" anchor="ctr"/>
          <a:lstStyle/>
          <a:p>
            <a:pPr algn="ctr" indent="0" marL="0">
              <a:buNone/>
            </a:pPr>
            <a:r>
              <a:rPr lang="en-US" sz="2800" b="1" dirty="0">
                <a:solidFill>
                  <a:srgbClr val="236CFF"/>
                </a:solidFill>
                <a:latin typeface="Avenir Next" pitchFamily="34" charset="0"/>
                <a:ea typeface="Avenir Next" pitchFamily="34" charset="-122"/>
                <a:cs typeface="Avenir Next" pitchFamily="34" charset="-120"/>
              </a:rPr>
              <a:t>-5.82</a:t>
            </a:r>
            <a:endParaRPr lang="en-US" sz="2800" dirty="0"/>
          </a:p>
        </p:txBody>
      </p:sp>
      <p:sp>
        <p:nvSpPr>
          <p:cNvPr id="8" name="Text 6"/>
          <p:cNvSpPr/>
          <p:nvPr/>
        </p:nvSpPr>
        <p:spPr>
          <a:xfrm>
            <a:off x="2651760" y="2011680"/>
            <a:ext cx="2011680" cy="274320"/>
          </a:xfrm>
          <a:prstGeom prst="rect">
            <a:avLst/>
          </a:prstGeom>
          <a:noFill/>
          <a:ln/>
        </p:spPr>
        <p:txBody>
          <a:bodyPr wrap="square" rtlCol="0" anchor="ctr"/>
          <a:lstStyle/>
          <a:p>
            <a:pPr algn="ctr" indent="0" marL="0">
              <a:buNone/>
            </a:pPr>
            <a:r>
              <a:rPr lang="en-US" sz="1400" dirty="0">
                <a:solidFill>
                  <a:srgbClr val="4A4A4A"/>
                </a:solidFill>
                <a:latin typeface="Avenir Next" pitchFamily="34" charset="0"/>
                <a:ea typeface="Avenir Next" pitchFamily="34" charset="-122"/>
                <a:cs typeface="Avenir Next" pitchFamily="34" charset="-120"/>
              </a:rPr>
              <a:t>MACD</a:t>
            </a:r>
            <a:endParaRPr lang="en-US" sz="1400" dirty="0"/>
          </a:p>
        </p:txBody>
      </p:sp>
      <p:sp>
        <p:nvSpPr>
          <p:cNvPr id="9" name="Text 7"/>
          <p:cNvSpPr/>
          <p:nvPr/>
        </p:nvSpPr>
        <p:spPr>
          <a:xfrm>
            <a:off x="2651760" y="2286000"/>
            <a:ext cx="2011680" cy="274320"/>
          </a:xfrm>
          <a:prstGeom prst="rect">
            <a:avLst/>
          </a:prstGeom>
          <a:noFill/>
          <a:ln/>
        </p:spPr>
        <p:txBody>
          <a:bodyPr wrap="square" rtlCol="0" anchor="ctr"/>
          <a:lstStyle/>
          <a:p>
            <a:pPr algn="ctr" indent="0" marL="0">
              <a:buNone/>
            </a:pPr>
            <a:r>
              <a:rPr lang="en-US" sz="1400" b="1" dirty="0">
                <a:solidFill>
                  <a:srgbClr val="FF6B6B"/>
                </a:solidFill>
                <a:latin typeface="Avenir Next" pitchFamily="34" charset="0"/>
                <a:ea typeface="Avenir Next" pitchFamily="34" charset="-122"/>
                <a:cs typeface="Avenir Next" pitchFamily="34" charset="-120"/>
              </a:rPr>
              <a:t>Bearish</a:t>
            </a:r>
            <a:endParaRPr lang="en-US" sz="1400" dirty="0"/>
          </a:p>
        </p:txBody>
      </p:sp>
      <p:sp>
        <p:nvSpPr>
          <p:cNvPr id="10" name="Text 8"/>
          <p:cNvSpPr/>
          <p:nvPr/>
        </p:nvSpPr>
        <p:spPr>
          <a:xfrm>
            <a:off x="4846320" y="1463040"/>
            <a:ext cx="2011680" cy="548640"/>
          </a:xfrm>
          <a:prstGeom prst="rect">
            <a:avLst/>
          </a:prstGeom>
          <a:noFill/>
          <a:ln/>
        </p:spPr>
        <p:txBody>
          <a:bodyPr wrap="square" rtlCol="0" anchor="ctr"/>
          <a:lstStyle/>
          <a:p>
            <a:pPr algn="ctr" indent="0" marL="0">
              <a:buNone/>
            </a:pPr>
            <a:r>
              <a:rPr lang="en-US" sz="2800" b="1" dirty="0">
                <a:solidFill>
                  <a:srgbClr val="236CFF"/>
                </a:solidFill>
                <a:latin typeface="Avenir Next" pitchFamily="34" charset="0"/>
                <a:ea typeface="Avenir Next" pitchFamily="34" charset="-122"/>
                <a:cs typeface="Avenir Next" pitchFamily="34" charset="-120"/>
              </a:rPr>
              <a:t>Below</a:t>
            </a:r>
            <a:endParaRPr lang="en-US" sz="2800" dirty="0"/>
          </a:p>
        </p:txBody>
      </p:sp>
      <p:sp>
        <p:nvSpPr>
          <p:cNvPr id="11" name="Text 9"/>
          <p:cNvSpPr/>
          <p:nvPr/>
        </p:nvSpPr>
        <p:spPr>
          <a:xfrm>
            <a:off x="4846320" y="2011680"/>
            <a:ext cx="2011680" cy="274320"/>
          </a:xfrm>
          <a:prstGeom prst="rect">
            <a:avLst/>
          </a:prstGeom>
          <a:noFill/>
          <a:ln/>
        </p:spPr>
        <p:txBody>
          <a:bodyPr wrap="square" rtlCol="0" anchor="ctr"/>
          <a:lstStyle/>
          <a:p>
            <a:pPr algn="ctr" indent="0" marL="0">
              <a:buNone/>
            </a:pPr>
            <a:r>
              <a:rPr lang="en-US" sz="1400" dirty="0">
                <a:solidFill>
                  <a:srgbClr val="4A4A4A"/>
                </a:solidFill>
                <a:latin typeface="Avenir Next" pitchFamily="34" charset="0"/>
                <a:ea typeface="Avenir Next" pitchFamily="34" charset="-122"/>
                <a:cs typeface="Avenir Next" pitchFamily="34" charset="-120"/>
              </a:rPr>
              <a:t>vs 50-day SMA</a:t>
            </a:r>
            <a:endParaRPr lang="en-US" sz="1400" dirty="0"/>
          </a:p>
        </p:txBody>
      </p:sp>
      <p:sp>
        <p:nvSpPr>
          <p:cNvPr id="12" name="Text 10"/>
          <p:cNvSpPr/>
          <p:nvPr/>
        </p:nvSpPr>
        <p:spPr>
          <a:xfrm>
            <a:off x="4846320" y="2286000"/>
            <a:ext cx="2011680" cy="274320"/>
          </a:xfrm>
          <a:prstGeom prst="rect">
            <a:avLst/>
          </a:prstGeom>
          <a:noFill/>
          <a:ln/>
        </p:spPr>
        <p:txBody>
          <a:bodyPr wrap="square" rtlCol="0" anchor="ctr"/>
          <a:lstStyle/>
          <a:p>
            <a:pPr algn="ctr" indent="0" marL="0">
              <a:buNone/>
            </a:pPr>
            <a:r>
              <a:rPr lang="en-US" sz="1400" b="1" dirty="0">
                <a:solidFill>
                  <a:srgbClr val="F5A623"/>
                </a:solidFill>
                <a:latin typeface="Avenir Next" pitchFamily="34" charset="0"/>
                <a:ea typeface="Avenir Next" pitchFamily="34" charset="-122"/>
                <a:cs typeface="Avenir Next" pitchFamily="34" charset="-120"/>
              </a:rPr>
              <a:t>Weak</a:t>
            </a:r>
            <a:endParaRPr lang="en-US" sz="1400" dirty="0"/>
          </a:p>
        </p:txBody>
      </p:sp>
      <p:sp>
        <p:nvSpPr>
          <p:cNvPr id="13" name="Text 11"/>
          <p:cNvSpPr/>
          <p:nvPr/>
        </p:nvSpPr>
        <p:spPr>
          <a:xfrm>
            <a:off x="7040880" y="1463040"/>
            <a:ext cx="2011680" cy="548640"/>
          </a:xfrm>
          <a:prstGeom prst="rect">
            <a:avLst/>
          </a:prstGeom>
          <a:noFill/>
          <a:ln/>
        </p:spPr>
        <p:txBody>
          <a:bodyPr wrap="square" rtlCol="0" anchor="ctr"/>
          <a:lstStyle/>
          <a:p>
            <a:pPr algn="ctr" indent="0" marL="0">
              <a:buNone/>
            </a:pPr>
            <a:r>
              <a:rPr lang="en-US" sz="2800" b="1" dirty="0">
                <a:solidFill>
                  <a:srgbClr val="236CFF"/>
                </a:solidFill>
                <a:latin typeface="Avenir Next" pitchFamily="34" charset="0"/>
                <a:ea typeface="Avenir Next" pitchFamily="34" charset="-122"/>
                <a:cs typeface="Avenir Next" pitchFamily="34" charset="-120"/>
              </a:rPr>
              <a:t>Above</a:t>
            </a:r>
            <a:endParaRPr lang="en-US" sz="2800" dirty="0"/>
          </a:p>
        </p:txBody>
      </p:sp>
      <p:sp>
        <p:nvSpPr>
          <p:cNvPr id="14" name="Text 12"/>
          <p:cNvSpPr/>
          <p:nvPr/>
        </p:nvSpPr>
        <p:spPr>
          <a:xfrm>
            <a:off x="7040880" y="2011680"/>
            <a:ext cx="2011680" cy="274320"/>
          </a:xfrm>
          <a:prstGeom prst="rect">
            <a:avLst/>
          </a:prstGeom>
          <a:noFill/>
          <a:ln/>
        </p:spPr>
        <p:txBody>
          <a:bodyPr wrap="square" rtlCol="0" anchor="ctr"/>
          <a:lstStyle/>
          <a:p>
            <a:pPr algn="ctr" indent="0" marL="0">
              <a:buNone/>
            </a:pPr>
            <a:r>
              <a:rPr lang="en-US" sz="1400" dirty="0">
                <a:solidFill>
                  <a:srgbClr val="4A4A4A"/>
                </a:solidFill>
                <a:latin typeface="Avenir Next" pitchFamily="34" charset="0"/>
                <a:ea typeface="Avenir Next" pitchFamily="34" charset="-122"/>
                <a:cs typeface="Avenir Next" pitchFamily="34" charset="-120"/>
              </a:rPr>
              <a:t>vs 200-day SMA</a:t>
            </a:r>
            <a:endParaRPr lang="en-US" sz="1400" dirty="0"/>
          </a:p>
        </p:txBody>
      </p:sp>
      <p:sp>
        <p:nvSpPr>
          <p:cNvPr id="15" name="Text 13"/>
          <p:cNvSpPr/>
          <p:nvPr/>
        </p:nvSpPr>
        <p:spPr>
          <a:xfrm>
            <a:off x="7040880" y="2286000"/>
            <a:ext cx="2011680" cy="274320"/>
          </a:xfrm>
          <a:prstGeom prst="rect">
            <a:avLst/>
          </a:prstGeom>
          <a:noFill/>
          <a:ln/>
        </p:spPr>
        <p:txBody>
          <a:bodyPr wrap="square" rtlCol="0" anchor="ctr"/>
          <a:lstStyle/>
          <a:p>
            <a:pPr algn="ctr" indent="0" marL="0">
              <a:buNone/>
            </a:pPr>
            <a:r>
              <a:rPr lang="en-US" sz="1400" b="1" dirty="0">
                <a:solidFill>
                  <a:srgbClr val="0A5C36"/>
                </a:solidFill>
                <a:latin typeface="Avenir Next" pitchFamily="34" charset="0"/>
                <a:ea typeface="Avenir Next" pitchFamily="34" charset="-122"/>
                <a:cs typeface="Avenir Next" pitchFamily="34" charset="-120"/>
              </a:rPr>
              <a:t>Healthy</a:t>
            </a:r>
            <a:endParaRPr lang="en-US" sz="1400" dirty="0"/>
          </a:p>
        </p:txBody>
      </p:sp>
      <p:sp>
        <p:nvSpPr>
          <p:cNvPr id="16" name="Text 14"/>
          <p:cNvSpPr/>
          <p:nvPr/>
        </p:nvSpPr>
        <p:spPr>
          <a:xfrm>
            <a:off x="457200" y="2926080"/>
            <a:ext cx="8229600" cy="365760"/>
          </a:xfrm>
          <a:prstGeom prst="rect">
            <a:avLst/>
          </a:prstGeom>
          <a:noFill/>
          <a:ln/>
        </p:spPr>
        <p:txBody>
          <a:bodyPr wrap="square" rtlCol="0" anchor="ctr"/>
          <a:lstStyle/>
          <a:p>
            <a:pPr indent="0" marL="0">
              <a:buNone/>
            </a:pPr>
            <a:r>
              <a:rPr lang="en-US" sz="1800" b="1" dirty="0">
                <a:solidFill>
                  <a:srgbClr val="0D2644"/>
                </a:solidFill>
                <a:latin typeface="Avenir Next" pitchFamily="34" charset="0"/>
                <a:ea typeface="Avenir Next" pitchFamily="34" charset="-122"/>
                <a:cs typeface="Avenir Next" pitchFamily="34" charset="-120"/>
              </a:rPr>
              <a:t>Key Price Levels:</a:t>
            </a:r>
            <a:endParaRPr lang="en-US" sz="1800" dirty="0"/>
          </a:p>
        </p:txBody>
      </p:sp>
      <p:sp>
        <p:nvSpPr>
          <p:cNvPr id="17" name="Text 15"/>
          <p:cNvSpPr/>
          <p:nvPr/>
        </p:nvSpPr>
        <p:spPr>
          <a:xfrm>
            <a:off x="457200" y="3291840"/>
            <a:ext cx="8229600" cy="1371600"/>
          </a:xfrm>
          <a:prstGeom prst="rect">
            <a:avLst/>
          </a:prstGeom>
          <a:noFill/>
          <a:ln/>
        </p:spPr>
        <p:txBody>
          <a:bodyPr wrap="square" rtlCol="0" anchor="t"/>
          <a:lstStyle/>
          <a:p>
            <a:pPr indent="0" marL="0">
              <a:buNone/>
            </a:pPr>
            <a:r>
              <a:rPr lang="en-US" sz="1600" b="1" dirty="0">
                <a:solidFill>
                  <a:srgbClr val="0A5C36"/>
                </a:solidFill>
                <a:latin typeface="Avenir Next" pitchFamily="34" charset="0"/>
                <a:ea typeface="Avenir Next" pitchFamily="34" charset="-122"/>
                <a:cs typeface="Avenir Next" pitchFamily="34" charset="-120"/>
              </a:rPr>
              <a:t>Support: </a:t>
            </a:r>
            <a:pPr indent="0" marL="0">
              <a:buNone/>
            </a:pPr>
            <a:r>
              <a:rPr lang="en-US" sz="1600" dirty="0">
                <a:solidFill>
                  <a:srgbClr val="4A4A4A"/>
                </a:solidFill>
                <a:latin typeface="Avenir Next" pitchFamily="34" charset="0"/>
                <a:ea typeface="Avenir Next" pitchFamily="34" charset="-122"/>
                <a:cs typeface="Avenir Next" pitchFamily="34" charset="-120"/>
              </a:rPr>
              <a:t>$340 (Fib 23.6%), $325 (local min), $305 (Fib 38.2%)
</a:t>
            </a:r>
            <a:pPr indent="0" marL="0">
              <a:buNone/>
            </a:pPr>
            <a:r>
              <a:rPr lang="en-US" sz="1600" b="1" dirty="0">
                <a:solidFill>
                  <a:srgbClr val="FF6B6B"/>
                </a:solidFill>
                <a:latin typeface="Avenir Next" pitchFamily="34" charset="0"/>
                <a:ea typeface="Avenir Next" pitchFamily="34" charset="-122"/>
                <a:cs typeface="Avenir Next" pitchFamily="34" charset="-120"/>
              </a:rPr>
              <a:t>Resistance: </a:t>
            </a:r>
            <a:pPr indent="0" marL="0">
              <a:buNone/>
            </a:pPr>
            <a:r>
              <a:rPr lang="en-US" sz="1600" dirty="0">
                <a:solidFill>
                  <a:srgbClr val="4A4A4A"/>
                </a:solidFill>
                <a:latin typeface="Avenir Next" pitchFamily="34" charset="0"/>
                <a:ea typeface="Avenir Next" pitchFamily="34" charset="-122"/>
                <a:cs typeface="Avenir Next" pitchFamily="34" charset="-120"/>
              </a:rPr>
              <a:t>$370, $386, $415 (52-week high)
</a:t>
            </a:r>
            <a:pPr indent="0" marL="0">
              <a:buNone/>
            </a:pPr>
            <a:r>
              <a:rPr lang="en-US" sz="1600" b="1" dirty="0">
                <a:solidFill>
                  <a:srgbClr val="236CFF"/>
                </a:solidFill>
                <a:latin typeface="Avenir Next" pitchFamily="34" charset="0"/>
                <a:ea typeface="Avenir Next" pitchFamily="34" charset="-122"/>
                <a:cs typeface="Avenir Next" pitchFamily="34" charset="-120"/>
              </a:rPr>
              <a:t>Trading Signal: </a:t>
            </a:r>
            <a:pPr indent="0" marL="0">
              <a:buNone/>
            </a:pPr>
            <a:r>
              <a:rPr lang="en-US" sz="1600" dirty="0">
                <a:solidFill>
                  <a:srgbClr val="4A4A4A"/>
                </a:solidFill>
                <a:latin typeface="Avenir Next" pitchFamily="34" charset="0"/>
                <a:ea typeface="Avenir Next" pitchFamily="34" charset="-122"/>
                <a:cs typeface="Avenir Next" pitchFamily="34" charset="-120"/>
              </a:rPr>
              <a:t>HOLD — Stock is oversold (RSI 25) after recent pullback. Wait for RSI recovery above 30 or support at $325-340.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t"/>
          <a:lstStyle/>
          <a:p>
            <a:pPr indent="0" marL="0">
              <a:buNone/>
            </a:pPr>
            <a:r>
              <a:rPr lang="en-US" sz="3600" b="1" dirty="0">
                <a:solidFill>
                  <a:srgbClr val="0D2644"/>
                </a:solidFill>
                <a:latin typeface="Avenir Next" pitchFamily="34" charset="0"/>
                <a:ea typeface="Avenir Next" pitchFamily="34" charset="-122"/>
                <a:cs typeface="Avenir Next" pitchFamily="34" charset="-120"/>
              </a:rPr>
              <a:t>Investment Considerations</a:t>
            </a:r>
            <a:endParaRPr lang="en-US" sz="3600" dirty="0"/>
          </a:p>
        </p:txBody>
      </p:sp>
      <p:sp>
        <p:nvSpPr>
          <p:cNvPr id="4" name="Shape 2"/>
          <p:cNvSpPr/>
          <p:nvPr/>
        </p:nvSpPr>
        <p:spPr>
          <a:xfrm>
            <a:off x="457200" y="1280160"/>
            <a:ext cx="3931920" cy="3200400"/>
          </a:xfrm>
          <a:prstGeom prst="rect">
            <a:avLst/>
          </a:prstGeom>
          <a:solidFill>
            <a:srgbClr val="E8FFE8"/>
          </a:solidFill>
          <a:ln/>
        </p:spPr>
      </p:sp>
      <p:sp>
        <p:nvSpPr>
          <p:cNvPr id="5" name="Text 3"/>
          <p:cNvSpPr/>
          <p:nvPr/>
        </p:nvSpPr>
        <p:spPr>
          <a:xfrm>
            <a:off x="457200" y="1371600"/>
            <a:ext cx="3931920" cy="457200"/>
          </a:xfrm>
          <a:prstGeom prst="rect">
            <a:avLst/>
          </a:prstGeom>
          <a:noFill/>
          <a:ln/>
        </p:spPr>
        <p:txBody>
          <a:bodyPr wrap="square" rtlCol="0" anchor="ctr"/>
          <a:lstStyle/>
          <a:p>
            <a:pPr algn="ctr" indent="0" marL="0">
              <a:buNone/>
            </a:pPr>
            <a:r>
              <a:rPr lang="en-US" sz="2000" b="1" dirty="0">
                <a:solidFill>
                  <a:srgbClr val="0A5C36"/>
                </a:solidFill>
                <a:latin typeface="Avenir Next" pitchFamily="34" charset="0"/>
                <a:ea typeface="Avenir Next" pitchFamily="34" charset="-122"/>
                <a:cs typeface="Avenir Next" pitchFamily="34" charset="-120"/>
              </a:rPr>
              <a:t>Bull Case</a:t>
            </a:r>
            <a:endParaRPr lang="en-US" sz="2000" dirty="0"/>
          </a:p>
        </p:txBody>
      </p:sp>
      <p:sp>
        <p:nvSpPr>
          <p:cNvPr id="6" name="Text 4"/>
          <p:cNvSpPr/>
          <p:nvPr/>
        </p:nvSpPr>
        <p:spPr>
          <a:xfrm>
            <a:off x="640080" y="1828800"/>
            <a:ext cx="3657600" cy="2560320"/>
          </a:xfrm>
          <a:prstGeom prst="rect">
            <a:avLst/>
          </a:prstGeom>
          <a:noFill/>
          <a:ln/>
        </p:spPr>
        <p:txBody>
          <a:bodyPr wrap="square" rtlCol="0" anchor="t"/>
          <a:lstStyle/>
          <a:p>
            <a:pPr indent="0" marL="0">
              <a:buNone/>
            </a:pPr>
            <a:r>
              <a:rPr lang="en-US" sz="1400" dirty="0">
                <a:solidFill>
                  <a:srgbClr val="4A4A4A"/>
                </a:solidFill>
                <a:latin typeface="Avenir Next" pitchFamily="34" charset="0"/>
                <a:ea typeface="Avenir Next" pitchFamily="34" charset="-122"/>
                <a:cs typeface="Avenir Next" pitchFamily="34" charset="-120"/>
              </a:rPr>
              <a:t>✓ AI custom accelerator demand (+220%)
</a:t>
            </a:r>
            <a:pPr indent="0" marL="0">
              <a:buNone/>
            </a:pPr>
            <a:r>
              <a:rPr lang="en-US" sz="1400" dirty="0">
                <a:solidFill>
                  <a:srgbClr val="4A4A4A"/>
                </a:solidFill>
                <a:latin typeface="Avenir Next" pitchFamily="34" charset="0"/>
                <a:ea typeface="Avenir Next" pitchFamily="34" charset="-122"/>
                <a:cs typeface="Avenir Next" pitchFamily="34" charset="-120"/>
              </a:rPr>
              <a:t>✓ OpenAI validates custom silicon thesis
</a:t>
            </a:r>
            <a:pPr indent="0" marL="0">
              <a:buNone/>
            </a:pPr>
            <a:r>
              <a:rPr lang="en-US" sz="1400" dirty="0">
                <a:solidFill>
                  <a:srgbClr val="4A4A4A"/>
                </a:solidFill>
                <a:latin typeface="Avenir Next" pitchFamily="34" charset="0"/>
                <a:ea typeface="Avenir Next" pitchFamily="34" charset="-122"/>
                <a:cs typeface="Avenir Next" pitchFamily="34" charset="-120"/>
              </a:rPr>
              <a:t>✓ 5 hyperscaler customers
</a:t>
            </a:r>
            <a:pPr indent="0" marL="0">
              <a:buNone/>
            </a:pPr>
            <a:r>
              <a:rPr lang="en-US" sz="1400" dirty="0">
                <a:solidFill>
                  <a:srgbClr val="4A4A4A"/>
                </a:solidFill>
                <a:latin typeface="Avenir Next" pitchFamily="34" charset="0"/>
                <a:ea typeface="Avenir Next" pitchFamily="34" charset="-122"/>
                <a:cs typeface="Avenir Next" pitchFamily="34" charset="-120"/>
              </a:rPr>
              <a:t>✓ AI networking moat (Tomahawk)
</a:t>
            </a:r>
            <a:pPr indent="0" marL="0">
              <a:buNone/>
            </a:pPr>
            <a:r>
              <a:rPr lang="en-US" sz="1400" dirty="0">
                <a:solidFill>
                  <a:srgbClr val="4A4A4A"/>
                </a:solidFill>
                <a:latin typeface="Avenir Next" pitchFamily="34" charset="0"/>
                <a:ea typeface="Avenir Next" pitchFamily="34" charset="-122"/>
                <a:cs typeface="Avenir Next" pitchFamily="34" charset="-120"/>
              </a:rPr>
              <a:t>✓ VMware recurring revenue
</a:t>
            </a:r>
            <a:pPr indent="0" marL="0">
              <a:buNone/>
            </a:pPr>
            <a:r>
              <a:rPr lang="en-US" sz="1400" dirty="0">
                <a:solidFill>
                  <a:srgbClr val="4A4A4A"/>
                </a:solidFill>
                <a:latin typeface="Avenir Next" pitchFamily="34" charset="0"/>
                <a:ea typeface="Avenir Next" pitchFamily="34" charset="-122"/>
                <a:cs typeface="Avenir Next" pitchFamily="34" charset="-120"/>
              </a:rPr>
              <a:t>✓ Strong FCF ($27B)</a:t>
            </a:r>
            <a:endParaRPr lang="en-US" sz="1400" dirty="0"/>
          </a:p>
        </p:txBody>
      </p:sp>
      <p:sp>
        <p:nvSpPr>
          <p:cNvPr id="7" name="Shape 5"/>
          <p:cNvSpPr/>
          <p:nvPr/>
        </p:nvSpPr>
        <p:spPr>
          <a:xfrm>
            <a:off x="4754880" y="1280160"/>
            <a:ext cx="3931920" cy="3200400"/>
          </a:xfrm>
          <a:prstGeom prst="rect">
            <a:avLst/>
          </a:prstGeom>
          <a:solidFill>
            <a:srgbClr val="FFE8E8"/>
          </a:solidFill>
          <a:ln/>
        </p:spPr>
      </p:sp>
      <p:sp>
        <p:nvSpPr>
          <p:cNvPr id="8" name="Text 6"/>
          <p:cNvSpPr/>
          <p:nvPr/>
        </p:nvSpPr>
        <p:spPr>
          <a:xfrm>
            <a:off x="4754880" y="1371600"/>
            <a:ext cx="3931920" cy="457200"/>
          </a:xfrm>
          <a:prstGeom prst="rect">
            <a:avLst/>
          </a:prstGeom>
          <a:noFill/>
          <a:ln/>
        </p:spPr>
        <p:txBody>
          <a:bodyPr wrap="square" rtlCol="0" anchor="ctr"/>
          <a:lstStyle/>
          <a:p>
            <a:pPr algn="ctr" indent="0" marL="0">
              <a:buNone/>
            </a:pPr>
            <a:r>
              <a:rPr lang="en-US" sz="2000" b="1" dirty="0">
                <a:solidFill>
                  <a:srgbClr val="FF6B6B"/>
                </a:solidFill>
                <a:latin typeface="Avenir Next" pitchFamily="34" charset="0"/>
                <a:ea typeface="Avenir Next" pitchFamily="34" charset="-122"/>
                <a:cs typeface="Avenir Next" pitchFamily="34" charset="-120"/>
              </a:rPr>
              <a:t>Bear Case</a:t>
            </a:r>
            <a:endParaRPr lang="en-US" sz="2000" dirty="0"/>
          </a:p>
        </p:txBody>
      </p:sp>
      <p:sp>
        <p:nvSpPr>
          <p:cNvPr id="9" name="Text 7"/>
          <p:cNvSpPr/>
          <p:nvPr/>
        </p:nvSpPr>
        <p:spPr>
          <a:xfrm>
            <a:off x="4937760" y="1828800"/>
            <a:ext cx="3657600" cy="2560320"/>
          </a:xfrm>
          <a:prstGeom prst="rect">
            <a:avLst/>
          </a:prstGeom>
          <a:noFill/>
          <a:ln/>
        </p:spPr>
        <p:txBody>
          <a:bodyPr wrap="square" rtlCol="0" anchor="t"/>
          <a:lstStyle/>
          <a:p>
            <a:pPr indent="0" marL="0">
              <a:buNone/>
            </a:pPr>
            <a:r>
              <a:rPr lang="en-US" sz="1400" dirty="0">
                <a:solidFill>
                  <a:srgbClr val="4A4A4A"/>
                </a:solidFill>
                <a:latin typeface="Avenir Next" pitchFamily="34" charset="0"/>
                <a:ea typeface="Avenir Next" pitchFamily="34" charset="-122"/>
                <a:cs typeface="Avenir Next" pitchFamily="34" charset="-120"/>
              </a:rPr>
              <a:t>⚠ Premium valuation (72x PE)
</a:t>
            </a:r>
            <a:pPr indent="0" marL="0">
              <a:buNone/>
            </a:pPr>
            <a:r>
              <a:rPr lang="en-US" sz="1400" dirty="0">
                <a:solidFill>
                  <a:srgbClr val="4A4A4A"/>
                </a:solidFill>
                <a:latin typeface="Avenir Next" pitchFamily="34" charset="0"/>
                <a:ea typeface="Avenir Next" pitchFamily="34" charset="-122"/>
                <a:cs typeface="Avenir Next" pitchFamily="34" charset="-120"/>
              </a:rPr>
              <a:t>⚠ Customer concentration (top 10 = 50%)
</a:t>
            </a:r>
            <a:pPr indent="0" marL="0">
              <a:buNone/>
            </a:pPr>
            <a:r>
              <a:rPr lang="en-US" sz="1400" dirty="0">
                <a:solidFill>
                  <a:srgbClr val="4A4A4A"/>
                </a:solidFill>
                <a:latin typeface="Avenir Next" pitchFamily="34" charset="0"/>
                <a:ea typeface="Avenir Next" pitchFamily="34" charset="-122"/>
                <a:cs typeface="Avenir Next" pitchFamily="34" charset="-120"/>
              </a:rPr>
              <a:t>⚠ Competition from customer tooling
</a:t>
            </a:r>
            <a:pPr indent="0" marL="0">
              <a:buNone/>
            </a:pPr>
            <a:r>
              <a:rPr lang="en-US" sz="1400" dirty="0">
                <a:solidFill>
                  <a:srgbClr val="4A4A4A"/>
                </a:solidFill>
                <a:latin typeface="Avenir Next" pitchFamily="34" charset="0"/>
                <a:ea typeface="Avenir Next" pitchFamily="34" charset="-122"/>
                <a:cs typeface="Avenir Next" pitchFamily="34" charset="-120"/>
              </a:rPr>
              <a:t>⚠ NVIDIA expanding into networking
</a:t>
            </a:r>
            <a:pPr indent="0" marL="0">
              <a:buNone/>
            </a:pPr>
            <a:r>
              <a:rPr lang="en-US" sz="1400" dirty="0">
                <a:solidFill>
                  <a:srgbClr val="4A4A4A"/>
                </a:solidFill>
                <a:latin typeface="Avenir Next" pitchFamily="34" charset="0"/>
                <a:ea typeface="Avenir Next" pitchFamily="34" charset="-122"/>
                <a:cs typeface="Avenir Next" pitchFamily="34" charset="-120"/>
              </a:rPr>
              <a:t>⚠ In-sourcing changes business model
</a:t>
            </a:r>
            <a:pPr indent="0" marL="0">
              <a:buNone/>
            </a:pPr>
            <a:r>
              <a:rPr lang="en-US" sz="1400" dirty="0">
                <a:solidFill>
                  <a:srgbClr val="4A4A4A"/>
                </a:solidFill>
                <a:latin typeface="Avenir Next" pitchFamily="34" charset="0"/>
                <a:ea typeface="Avenir Next" pitchFamily="34" charset="-122"/>
                <a:cs typeface="Avenir Next" pitchFamily="34" charset="-120"/>
              </a:rPr>
              <a:t>⚠ Non-AI segments sluggish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6CFF"/>
        </a:solidFill>
      </p:bgPr>
    </p:bg>
    <p:spTree>
      <p:nvGrpSpPr>
        <p:cNvPr id="1" name=""/>
        <p:cNvGrpSpPr/>
        <p:nvPr/>
      </p:nvGrpSpPr>
      <p:grpSpPr>
        <a:xfrm>
          <a:off x="0" y="0"/>
          <a:ext cx="0" cy="0"/>
          <a:chOff x="0" y="0"/>
          <a:chExt cx="0" cy="0"/>
        </a:xfrm>
      </p:grpSpPr>
      <p:sp>
        <p:nvSpPr>
          <p:cNvPr id="2" name="Text 0"/>
          <p:cNvSpPr/>
          <p:nvPr/>
        </p:nvSpPr>
        <p:spPr>
          <a:xfrm>
            <a:off x="457200" y="914400"/>
            <a:ext cx="8229600" cy="731520"/>
          </a:xfrm>
          <a:prstGeom prst="rect">
            <a:avLst/>
          </a:prstGeom>
          <a:noFill/>
          <a:ln/>
        </p:spPr>
        <p:txBody>
          <a:bodyPr wrap="square" rtlCol="0" anchor="ctr"/>
          <a:lstStyle/>
          <a:p>
            <a:pPr algn="ctr" indent="0" marL="0">
              <a:buNone/>
            </a:pPr>
            <a:r>
              <a:rPr lang="en-US" sz="4000" b="1" dirty="0">
                <a:solidFill>
                  <a:srgbClr val="FFFFFF"/>
                </a:solidFill>
                <a:latin typeface="Avenir Next" pitchFamily="34" charset="0"/>
                <a:ea typeface="Avenir Next" pitchFamily="34" charset="-122"/>
                <a:cs typeface="Avenir Next" pitchFamily="34" charset="-120"/>
              </a:rPr>
              <a:t>Investment Recommendation</a:t>
            </a:r>
            <a:endParaRPr lang="en-US" sz="4000" dirty="0"/>
          </a:p>
        </p:txBody>
      </p:sp>
      <p:sp>
        <p:nvSpPr>
          <p:cNvPr id="3" name="Text 1"/>
          <p:cNvSpPr/>
          <p:nvPr/>
        </p:nvSpPr>
        <p:spPr>
          <a:xfrm>
            <a:off x="457200" y="1828800"/>
            <a:ext cx="8229600" cy="914400"/>
          </a:xfrm>
          <a:prstGeom prst="rect">
            <a:avLst/>
          </a:prstGeom>
          <a:noFill/>
          <a:ln/>
        </p:spPr>
        <p:txBody>
          <a:bodyPr wrap="square" rtlCol="0" anchor="ctr"/>
          <a:lstStyle/>
          <a:p>
            <a:pPr algn="ctr" indent="0" marL="0">
              <a:buNone/>
            </a:pPr>
            <a:r>
              <a:rPr lang="en-US" sz="7200" b="1" dirty="0">
                <a:solidFill>
                  <a:srgbClr val="FFFFFF"/>
                </a:solidFill>
                <a:latin typeface="Avenir Next" pitchFamily="34" charset="0"/>
                <a:ea typeface="Avenir Next" pitchFamily="34" charset="-122"/>
                <a:cs typeface="Avenir Next" pitchFamily="34" charset="-120"/>
              </a:rPr>
              <a:t>HOLD</a:t>
            </a:r>
            <a:endParaRPr lang="en-US" sz="7200" dirty="0"/>
          </a:p>
        </p:txBody>
      </p:sp>
      <p:sp>
        <p:nvSpPr>
          <p:cNvPr id="4" name="Text 2"/>
          <p:cNvSpPr/>
          <p:nvPr/>
        </p:nvSpPr>
        <p:spPr>
          <a:xfrm>
            <a:off x="457200" y="2743200"/>
            <a:ext cx="8229600" cy="457200"/>
          </a:xfrm>
          <a:prstGeom prst="rect">
            <a:avLst/>
          </a:prstGeom>
          <a:noFill/>
          <a:ln/>
        </p:spPr>
        <p:txBody>
          <a:bodyPr wrap="square" rtlCol="0" anchor="ctr"/>
          <a:lstStyle/>
          <a:p>
            <a:pPr algn="ctr" indent="0" marL="0">
              <a:buNone/>
            </a:pPr>
            <a:r>
              <a:rPr lang="en-US" sz="2400" dirty="0">
                <a:solidFill>
                  <a:srgbClr val="8FB8FF"/>
                </a:solidFill>
                <a:latin typeface="Avenir Next" pitchFamily="34" charset="0"/>
                <a:ea typeface="Avenir Next" pitchFamily="34" charset="-122"/>
                <a:cs typeface="Avenir Next" pitchFamily="34" charset="-120"/>
              </a:rPr>
              <a:t>at current price ($347.62)</a:t>
            </a:r>
            <a:endParaRPr lang="en-US" sz="2400" dirty="0"/>
          </a:p>
        </p:txBody>
      </p:sp>
      <p:sp>
        <p:nvSpPr>
          <p:cNvPr id="5" name="Shape 3"/>
          <p:cNvSpPr/>
          <p:nvPr/>
        </p:nvSpPr>
        <p:spPr>
          <a:xfrm>
            <a:off x="457200" y="3383280"/>
            <a:ext cx="3931920" cy="914400"/>
          </a:xfrm>
          <a:prstGeom prst="rect">
            <a:avLst/>
          </a:prstGeom>
          <a:solidFill>
            <a:srgbClr val="0A5C36"/>
          </a:solidFill>
          <a:ln/>
        </p:spPr>
      </p:sp>
      <p:sp>
        <p:nvSpPr>
          <p:cNvPr id="6" name="Text 4"/>
          <p:cNvSpPr/>
          <p:nvPr/>
        </p:nvSpPr>
        <p:spPr>
          <a:xfrm>
            <a:off x="457200" y="3383280"/>
            <a:ext cx="3931920" cy="914400"/>
          </a:xfrm>
          <a:prstGeom prst="rect">
            <a:avLst/>
          </a:prstGeom>
          <a:noFill/>
          <a:ln/>
        </p:spPr>
        <p:txBody>
          <a:bodyPr wrap="square"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BUY on dips to $320-330
</a:t>
            </a:r>
            <a:pPr algn="ctr" indent="0" marL="0">
              <a:buNone/>
            </a:pPr>
            <a:r>
              <a:rPr lang="en-US" sz="1400" dirty="0">
                <a:solidFill>
                  <a:srgbClr val="FFFFFF"/>
                </a:solidFill>
                <a:latin typeface="Avenir Next" pitchFamily="34" charset="0"/>
                <a:ea typeface="Avenir Next" pitchFamily="34" charset="-122"/>
                <a:cs typeface="Avenir Next" pitchFamily="34" charset="-120"/>
              </a:rPr>
              <a:t>Strong entry if RSI confirms reversal</a:t>
            </a:r>
            <a:endParaRPr lang="en-US" sz="1800" dirty="0"/>
          </a:p>
        </p:txBody>
      </p:sp>
      <p:sp>
        <p:nvSpPr>
          <p:cNvPr id="7" name="Shape 5"/>
          <p:cNvSpPr/>
          <p:nvPr/>
        </p:nvSpPr>
        <p:spPr>
          <a:xfrm>
            <a:off x="4754880" y="3383280"/>
            <a:ext cx="3931920" cy="914400"/>
          </a:xfrm>
          <a:prstGeom prst="rect">
            <a:avLst/>
          </a:prstGeom>
          <a:solidFill>
            <a:srgbClr val="1A3D5C"/>
          </a:solidFill>
          <a:ln/>
        </p:spPr>
      </p:sp>
      <p:sp>
        <p:nvSpPr>
          <p:cNvPr id="8" name="Text 6"/>
          <p:cNvSpPr/>
          <p:nvPr/>
        </p:nvSpPr>
        <p:spPr>
          <a:xfrm>
            <a:off x="4754880" y="3383280"/>
            <a:ext cx="3931920" cy="914400"/>
          </a:xfrm>
          <a:prstGeom prst="rect">
            <a:avLst/>
          </a:prstGeom>
          <a:noFill/>
          <a:ln/>
        </p:spPr>
        <p:txBody>
          <a:bodyPr wrap="square"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Price Targets
</a:t>
            </a:r>
            <a:pPr algn="ctr" indent="0" marL="0">
              <a:buNone/>
            </a:pPr>
            <a:r>
              <a:rPr lang="en-US" sz="1400" dirty="0">
                <a:solidFill>
                  <a:srgbClr val="FFFFFF"/>
                </a:solidFill>
                <a:latin typeface="Avenir Next" pitchFamily="34" charset="0"/>
                <a:ea typeface="Avenir Next" pitchFamily="34" charset="-122"/>
                <a:cs typeface="Avenir Next" pitchFamily="34" charset="-120"/>
              </a:rPr>
              <a:t>Conservative: $380 | Bull: $535 (HSBC)</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644"/>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6CFF"/>
          </a:solidFill>
          <a:ln/>
        </p:spPr>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FFFFFF"/>
                </a:solidFill>
                <a:latin typeface="Avenir Next" pitchFamily="34" charset="0"/>
                <a:ea typeface="Avenir Next" pitchFamily="34" charset="-122"/>
                <a:cs typeface="Avenir Next" pitchFamily="34" charset="-120"/>
              </a:rPr>
              <a:t>Key Takeaways</a:t>
            </a:r>
            <a:endParaRPr lang="en-US" sz="3600" dirty="0"/>
          </a:p>
        </p:txBody>
      </p:sp>
      <p:sp>
        <p:nvSpPr>
          <p:cNvPr id="4" name="Text 2"/>
          <p:cNvSpPr/>
          <p:nvPr/>
        </p:nvSpPr>
        <p:spPr>
          <a:xfrm>
            <a:off x="457200" y="1280160"/>
            <a:ext cx="8229600" cy="3657600"/>
          </a:xfrm>
          <a:prstGeom prst="rect">
            <a:avLst/>
          </a:prstGeom>
          <a:noFill/>
          <a:ln/>
        </p:spPr>
        <p:txBody>
          <a:bodyPr wrap="square" rtlCol="0" anchor="t"/>
          <a:lstStyle/>
          <a:p>
            <a:pPr indent="0" marL="0">
              <a:buNone/>
            </a:pPr>
            <a:r>
              <a:rPr lang="en-US" sz="1700" b="1" dirty="0">
                <a:solidFill>
                  <a:srgbClr val="236CFF"/>
                </a:solidFill>
                <a:latin typeface="Avenir Next" pitchFamily="34" charset="0"/>
                <a:ea typeface="Avenir Next" pitchFamily="34" charset="-122"/>
                <a:cs typeface="Avenir Next" pitchFamily="34" charset="-120"/>
              </a:rPr>
              <a:t>1. </a:t>
            </a:r>
            <a:pPr indent="0" marL="0">
              <a:buNone/>
            </a:pPr>
            <a:r>
              <a:rPr lang="en-US" sz="1700" b="1" dirty="0">
                <a:solidFill>
                  <a:srgbClr val="FFFFFF"/>
                </a:solidFill>
                <a:latin typeface="Avenir Next" pitchFamily="34" charset="0"/>
                <a:ea typeface="Avenir Next" pitchFamily="34" charset="-122"/>
                <a:cs typeface="Avenir Next" pitchFamily="34" charset="-120"/>
              </a:rPr>
              <a:t>Broadcom ≠ NVIDIA</a:t>
            </a:r>
            <a:pPr indent="0" marL="0">
              <a:buNone/>
            </a:pPr>
            <a:r>
              <a:rPr lang="en-US" sz="1700" dirty="0">
                <a:solidFill>
                  <a:srgbClr val="8FB8FF"/>
                </a:solidFill>
                <a:latin typeface="Avenir Next" pitchFamily="34" charset="0"/>
                <a:ea typeface="Avenir Next" pitchFamily="34" charset="-122"/>
                <a:cs typeface="Avenir Next" pitchFamily="34" charset="-120"/>
              </a:rPr>
              <a:t> — Complementary, not competitive. NVIDIA owns training; Broadcom owns inference + networking.
</a:t>
            </a:r>
            <a:pPr indent="0" marL="0">
              <a:buNone/>
            </a:pPr>
            <a:r>
              <a:rPr lang="en-US" sz="1700" b="1" dirty="0">
                <a:solidFill>
                  <a:srgbClr val="236CFF"/>
                </a:solidFill>
                <a:latin typeface="Avenir Next" pitchFamily="34" charset="0"/>
                <a:ea typeface="Avenir Next" pitchFamily="34" charset="-122"/>
                <a:cs typeface="Avenir Next" pitchFamily="34" charset="-120"/>
              </a:rPr>
              <a:t>2. </a:t>
            </a:r>
            <a:pPr indent="0" marL="0">
              <a:buNone/>
            </a:pPr>
            <a:r>
              <a:rPr lang="en-US" sz="1700" b="1" dirty="0">
                <a:solidFill>
                  <a:srgbClr val="FFFFFF"/>
                </a:solidFill>
                <a:latin typeface="Avenir Next" pitchFamily="34" charset="0"/>
                <a:ea typeface="Avenir Next" pitchFamily="34" charset="-122"/>
                <a:cs typeface="Avenir Next" pitchFamily="34" charset="-120"/>
              </a:rPr>
              <a:t>OpenAI partnership is transformative</a:t>
            </a:r>
            <a:pPr indent="0" marL="0">
              <a:buNone/>
            </a:pPr>
            <a:r>
              <a:rPr lang="en-US" sz="1700" dirty="0">
                <a:solidFill>
                  <a:srgbClr val="8FB8FF"/>
                </a:solidFill>
                <a:latin typeface="Avenir Next" pitchFamily="34" charset="0"/>
                <a:ea typeface="Avenir Next" pitchFamily="34" charset="-122"/>
                <a:cs typeface="Avenir Next" pitchFamily="34" charset="-120"/>
              </a:rPr>
              <a:t> — Validates custom silicon thesis, opens door to other frontier model developers.
</a:t>
            </a:r>
            <a:pPr indent="0" marL="0">
              <a:buNone/>
            </a:pPr>
            <a:r>
              <a:rPr lang="en-US" sz="1700" b="1" dirty="0">
                <a:solidFill>
                  <a:srgbClr val="236CFF"/>
                </a:solidFill>
                <a:latin typeface="Avenir Next" pitchFamily="34" charset="0"/>
                <a:ea typeface="Avenir Next" pitchFamily="34" charset="-122"/>
                <a:cs typeface="Avenir Next" pitchFamily="34" charset="-120"/>
              </a:rPr>
              <a:t>3. </a:t>
            </a:r>
            <a:pPr indent="0" marL="0">
              <a:buNone/>
            </a:pPr>
            <a:r>
              <a:rPr lang="en-US" sz="1700" b="1" dirty="0">
                <a:solidFill>
                  <a:srgbClr val="FFFFFF"/>
                </a:solidFill>
                <a:latin typeface="Avenir Next" pitchFamily="34" charset="0"/>
                <a:ea typeface="Avenir Next" pitchFamily="34" charset="-122"/>
                <a:cs typeface="Avenir Next" pitchFamily="34" charset="-120"/>
              </a:rPr>
              <a:t>AI backlog provides visibility</a:t>
            </a:r>
            <a:pPr indent="0" marL="0">
              <a:buNone/>
            </a:pPr>
            <a:r>
              <a:rPr lang="en-US" sz="1700" dirty="0">
                <a:solidFill>
                  <a:srgbClr val="8FB8FF"/>
                </a:solidFill>
                <a:latin typeface="Avenir Next" pitchFamily="34" charset="0"/>
                <a:ea typeface="Avenir Next" pitchFamily="34" charset="-122"/>
                <a:cs typeface="Avenir Next" pitchFamily="34" charset="-120"/>
              </a:rPr>
              <a:t> — $73B through FY2027, with potential for upside surprises.
</a:t>
            </a:r>
            <a:pPr indent="0" marL="0">
              <a:buNone/>
            </a:pPr>
            <a:r>
              <a:rPr lang="en-US" sz="1700" b="1" dirty="0">
                <a:solidFill>
                  <a:srgbClr val="236CFF"/>
                </a:solidFill>
                <a:latin typeface="Avenir Next" pitchFamily="34" charset="0"/>
                <a:ea typeface="Avenir Next" pitchFamily="34" charset="-122"/>
                <a:cs typeface="Avenir Next" pitchFamily="34" charset="-120"/>
              </a:rPr>
              <a:t>4. </a:t>
            </a:r>
            <a:pPr indent="0" marL="0">
              <a:buNone/>
            </a:pPr>
            <a:r>
              <a:rPr lang="en-US" sz="1700" b="1" dirty="0">
                <a:solidFill>
                  <a:srgbClr val="FFFFFF"/>
                </a:solidFill>
                <a:latin typeface="Avenir Next" pitchFamily="34" charset="0"/>
                <a:ea typeface="Avenir Next" pitchFamily="34" charset="-122"/>
                <a:cs typeface="Avenir Next" pitchFamily="34" charset="-120"/>
              </a:rPr>
              <a:t>Technically oversold</a:t>
            </a:r>
            <a:pPr indent="0" marL="0">
              <a:buNone/>
            </a:pPr>
            <a:r>
              <a:rPr lang="en-US" sz="1700" dirty="0">
                <a:solidFill>
                  <a:srgbClr val="8FB8FF"/>
                </a:solidFill>
                <a:latin typeface="Avenir Next" pitchFamily="34" charset="0"/>
                <a:ea typeface="Avenir Next" pitchFamily="34" charset="-122"/>
                <a:cs typeface="Avenir Next" pitchFamily="34" charset="-120"/>
              </a:rPr>
              <a:t> — RSI at 25 suggests near-term bounce; wait for confirmation.
</a:t>
            </a:r>
            <a:pPr indent="0" marL="0">
              <a:buNone/>
            </a:pPr>
            <a:r>
              <a:rPr lang="en-US" sz="1700" b="1" dirty="0">
                <a:solidFill>
                  <a:srgbClr val="236CFF"/>
                </a:solidFill>
                <a:latin typeface="Avenir Next" pitchFamily="34" charset="0"/>
                <a:ea typeface="Avenir Next" pitchFamily="34" charset="-122"/>
                <a:cs typeface="Avenir Next" pitchFamily="34" charset="-120"/>
              </a:rPr>
              <a:t>5. </a:t>
            </a:r>
            <a:pPr indent="0" marL="0">
              <a:buNone/>
            </a:pPr>
            <a:r>
              <a:rPr lang="en-US" sz="1700" b="1" dirty="0">
                <a:solidFill>
                  <a:srgbClr val="FFFFFF"/>
                </a:solidFill>
                <a:latin typeface="Avenir Next" pitchFamily="34" charset="0"/>
                <a:ea typeface="Avenir Next" pitchFamily="34" charset="-122"/>
                <a:cs typeface="Avenir Next" pitchFamily="34" charset="-120"/>
              </a:rPr>
              <a:t>Premium valuation justified</a:t>
            </a:r>
            <a:pPr indent="0" marL="0">
              <a:buNone/>
            </a:pPr>
            <a:r>
              <a:rPr lang="en-US" sz="1700" dirty="0">
                <a:solidFill>
                  <a:srgbClr val="8FB8FF"/>
                </a:solidFill>
                <a:latin typeface="Avenir Next" pitchFamily="34" charset="0"/>
                <a:ea typeface="Avenir Next" pitchFamily="34" charset="-122"/>
                <a:cs typeface="Avenir Next" pitchFamily="34" charset="-120"/>
              </a:rPr>
              <a:t> — AI leadership position and growth rate support premium multiple.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6CFF"/>
        </a:solidFill>
      </p:bgPr>
    </p:bg>
    <p:spTree>
      <p:nvGrpSpPr>
        <p:cNvPr id="1" name=""/>
        <p:cNvGrpSpPr/>
        <p:nvPr/>
      </p:nvGrpSpPr>
      <p:grpSpPr>
        <a:xfrm>
          <a:off x="0" y="0"/>
          <a:ext cx="0" cy="0"/>
          <a:chOff x="0" y="0"/>
          <a:chExt cx="0" cy="0"/>
        </a:xfrm>
      </p:grpSpPr>
      <p:sp>
        <p:nvSpPr>
          <p:cNvPr id="2" name="Text 0"/>
          <p:cNvSpPr/>
          <p:nvPr/>
        </p:nvSpPr>
        <p:spPr>
          <a:xfrm>
            <a:off x="457200" y="2011680"/>
            <a:ext cx="8229600" cy="914400"/>
          </a:xfrm>
          <a:prstGeom prst="rect">
            <a:avLst/>
          </a:prstGeom>
          <a:noFill/>
          <a:ln/>
        </p:spPr>
        <p:txBody>
          <a:bodyPr wrap="square" rtlCol="0" anchor="ctr"/>
          <a:lstStyle/>
          <a:p>
            <a:pPr algn="ctr" indent="0" marL="0">
              <a:buNone/>
            </a:pPr>
            <a:r>
              <a:rPr lang="en-US" sz="5400" b="1" dirty="0">
                <a:solidFill>
                  <a:srgbClr val="FFFFFF"/>
                </a:solidFill>
                <a:latin typeface="Avenir Next" pitchFamily="34" charset="0"/>
                <a:ea typeface="Avenir Next" pitchFamily="34" charset="-122"/>
                <a:cs typeface="Avenir Next" pitchFamily="34" charset="-120"/>
              </a:rPr>
              <a:t>Thank You</a:t>
            </a:r>
            <a:endParaRPr lang="en-US" sz="5400" dirty="0"/>
          </a:p>
        </p:txBody>
      </p:sp>
      <p:sp>
        <p:nvSpPr>
          <p:cNvPr id="3" name="Text 1"/>
          <p:cNvSpPr/>
          <p:nvPr/>
        </p:nvSpPr>
        <p:spPr>
          <a:xfrm>
            <a:off x="457200" y="3017520"/>
            <a:ext cx="8229600" cy="457200"/>
          </a:xfrm>
          <a:prstGeom prst="rect">
            <a:avLst/>
          </a:prstGeom>
          <a:noFill/>
          <a:ln/>
        </p:spPr>
        <p:txBody>
          <a:bodyPr wrap="square" rtlCol="0" anchor="ctr"/>
          <a:lstStyle/>
          <a:p>
            <a:pPr algn="ctr" indent="0" marL="0">
              <a:buNone/>
            </a:pPr>
            <a:r>
              <a:rPr lang="en-US" sz="2400" dirty="0">
                <a:solidFill>
                  <a:srgbClr val="8FB8FF"/>
                </a:solidFill>
                <a:latin typeface="Avenir Next" pitchFamily="34" charset="0"/>
                <a:ea typeface="Avenir Next" pitchFamily="34" charset="-122"/>
                <a:cs typeface="Avenir Next" pitchFamily="34" charset="-120"/>
              </a:rPr>
              <a:t>Questions &amp; Discussion</a:t>
            </a:r>
            <a:endParaRPr lang="en-US" sz="2400" dirty="0"/>
          </a:p>
        </p:txBody>
      </p:sp>
      <p:sp>
        <p:nvSpPr>
          <p:cNvPr id="4" name="Text 2"/>
          <p:cNvSpPr/>
          <p:nvPr/>
        </p:nvSpPr>
        <p:spPr>
          <a:xfrm>
            <a:off x="457200" y="4389120"/>
            <a:ext cx="8229600" cy="365760"/>
          </a:xfrm>
          <a:prstGeom prst="rect">
            <a:avLst/>
          </a:prstGeom>
          <a:noFill/>
          <a:ln/>
        </p:spPr>
        <p:txBody>
          <a:bodyPr wrap="square" rtlCol="0" anchor="ctr"/>
          <a:lstStyle/>
          <a:p>
            <a:pPr algn="ctr" indent="0" marL="0">
              <a:buNone/>
            </a:pPr>
            <a:r>
              <a:rPr lang="en-US" sz="1400" dirty="0">
                <a:solidFill>
                  <a:srgbClr val="C4DBFF"/>
                </a:solidFill>
                <a:latin typeface="Avenir Next" pitchFamily="34" charset="0"/>
                <a:ea typeface="Avenir Next" pitchFamily="34" charset="-122"/>
                <a:cs typeface="Avenir Next" pitchFamily="34" charset="-120"/>
              </a:rPr>
              <a:t>Research Date: January 3,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Broadcom (AVGO) Investment POV</dc:title>
  <dc:subject>PptxGenJS Presentation</dc:subject>
  <dc:creator>Intuit Investment Research</dc:creator>
  <cp:lastModifiedBy>Intuit Investment Research</cp:lastModifiedBy>
  <cp:revision>1</cp:revision>
  <dcterms:created xsi:type="dcterms:W3CDTF">2026-01-04T05:39:24Z</dcterms:created>
  <dcterms:modified xsi:type="dcterms:W3CDTF">2026-01-04T05:39:24Z</dcterms:modified>
</cp:coreProperties>
</file>