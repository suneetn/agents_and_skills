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6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Intuit Investment POV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4DB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Strategic Analysis | NASDAQ: INTU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January 2026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F1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Power Prosperity Around the World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Executive Summary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Intuit is a best-in-class franchise 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with a powerful ecosystem built around TurboTax, QuickBooks, Credit Karma, and Mailchimp.
</a:t>
            </a:r>
            <a:pPr indent="0" marL="0">
              <a:buNone/>
            </a:pPr>
            <a:r>
              <a:rPr lang="en-US" sz="16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FY2025 Performance: 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$18.83B revenue (+15.6% YoY), $3.87B earnings (+30.6% YoY)
</a:t>
            </a:r>
            <a:pPr indent="0" marL="0">
              <a:buNone/>
            </a:pPr>
            <a:r>
              <a:rPr lang="en-US" sz="16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Thesis: 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Successfully transformed from desktop software to AI-powered platform company. Five new AI agents launched November 2025.
</a:t>
            </a:r>
            <a:pPr indent="0" marL="0">
              <a:buNone/>
            </a:pPr>
            <a:r>
              <a:rPr lang="en-US" sz="16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Current Opportunity: </a:t>
            </a:r>
            <a:pPr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Stock pullback to $629 (RSI: 28.79 oversold) creates attractive entry point. Analyst target: $812 (+29%).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Company Overview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164592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Founded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1983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Revenue (FY25)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$18.83B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Headquarters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Mountain View, CA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Net Income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$3.87B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CEO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Sasan Goodarzi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Market Cap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$175B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Employees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~18,200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36C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Stock Price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$629.46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Core Products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TurboTax  –  Consumer &amp; business tax preparation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QuickBooks  –  SMB accounting, payroll, payments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Credit Karma  –  Credit monitoring &amp; financial products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Mailchimp  –  Email marketing &amp;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Ecosystem Moat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Intuit has built what few software companies achieve: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self-reinforcing ecosystem</a:t>
            </a:r>
            <a:pPr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that creates massive switching costs.
</a:t>
            </a:r>
            <a:pPr indent="0" marL="0">
              <a:buNone/>
            </a:pPr>
            <a:r>
              <a:rPr lang="en-US" sz="1800" b="1" dirty="0">
                <a:solidFill>
                  <a:srgbClr val="5A94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QuickBooks </a:t>
            </a:r>
            <a:pPr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captures SMB financial data
</a:t>
            </a:r>
            <a:pPr indent="0" marL="0">
              <a:buNone/>
            </a:pPr>
            <a:r>
              <a:rPr lang="en-US" sz="1800" b="1" dirty="0">
                <a:solidFill>
                  <a:srgbClr val="5A94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Mailchimp </a:t>
            </a:r>
            <a:pPr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handles customer acquisition
</a:t>
            </a:r>
            <a:pPr indent="0" marL="0">
              <a:buNone/>
            </a:pPr>
            <a:r>
              <a:rPr lang="en-US" sz="1800" b="1" dirty="0">
                <a:solidFill>
                  <a:srgbClr val="5A94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Credit Karma </a:t>
            </a:r>
            <a:pPr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provides personal finance insights
</a:t>
            </a:r>
            <a:pPr indent="0" marL="0">
              <a:buNone/>
            </a:pPr>
            <a:r>
              <a:rPr lang="en-US" sz="1800" b="1" dirty="0">
                <a:solidFill>
                  <a:srgbClr val="5A94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• TurboTax </a:t>
            </a:r>
            <a:pPr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simplifies taxes using data from all sources
</a:t>
            </a:r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Result: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39+ million SMB customers with high retention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AI: The Next Growth Engine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November 2025: Intuit launched 5 new AI agents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2286000"/>
        </p:xfrm>
        <a:graphic>
          <a:graphicData uri="http://schemas.openxmlformats.org/drawingml/2006/table">
            <a:tbl>
              <a:tblPr/>
              <a:tblGrid>
                <a:gridCol w="3200400"/>
                <a:gridCol w="5029200"/>
              </a:tblGrid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AI Capability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Business Impact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Automated Bookkeeping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Real-time categorization, reduces manual entry by 80%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Financial Summaries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Instant CFO-level insights for SMBs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Lead Generation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Smarter marketing with predictive targeting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Project Management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Workflow automation for service businesses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Intelligent Support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AI-powered customer assistance 24/7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3D5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is Intuit positioning itself as the AI-first financial operating system for SMBs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Financial Performance (FY2025)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$18.83B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Revenue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+15.6% YoY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$3.87B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Net Income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+30.6% YoY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$6.21B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59436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Op Cash 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+27.1% YoY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Ratios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P/E Ratio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43.29x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19.6%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Debt/Equity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0.34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P/Sales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11.67x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ROA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10.5%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Current Ratio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1.36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Technical Analysis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0" cy="1371600"/>
          </a:xfrm>
          <a:prstGeom prst="rect">
            <a:avLst/>
          </a:prstGeom>
          <a:solidFill>
            <a:srgbClr val="E8F1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$629.46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Current Price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RSI: 28.79 (Oversold)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188720"/>
          <a:ext cx="5212080" cy="22860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Indicator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Value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Signal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SMA 50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$659.87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Below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SMA 200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$682.48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Below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RSI (14)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28.79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Oversold ↓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MACD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-2.80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Bearish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52W High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$813.70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-23%</a:t>
                      </a:r>
                      <a:endParaRPr lang="en-US" sz="13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566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Levels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Support: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$629 → $602 → $555    </a:t>
            </a:r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Resistance: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$660 → $682 → $706 → $814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Competitive Landscape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Competitive Advantages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Brand recognition (TurboTax, QuickBooks)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Unmatched transaction data for AI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Ecosystem lock-in effects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39M+ SMB customer 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Trust in financial data handling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Risks to Monitor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⚠ IRS Free File expansion pressure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⚠ Xero gaining share internationally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⚠ AI disruptors with fresh approach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⚠ Economic sensitivity (SMB health)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⚠ Premium valuation vulnerability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474720"/>
          <a:ext cx="8229600" cy="13716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Competitor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Market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Threat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C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H&amp;R Block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Tax Preparation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Medium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Xero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SMB Accounting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Medium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FreshBooks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SMB Invoicing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Low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IRS Direct File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Free Tax Filing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Medium</a:t>
                      </a:r>
                      <a:endParaRPr lang="en-US" sz="12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6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Investment Recommendation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50800" dir="27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BUY ON WEAKNESS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Analyst Consensus Target: $812 (+29% upside)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Quality Company
</a:t>
            </a:r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Best-in-class franchise with durable competitive advantages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Growth Engine
</a:t>
            </a:r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AI agents represent significant new monetization lever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Technical Setup
</a:t>
            </a:r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Oversold conditions (RSI: 28.79) suggest near-term bounce
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Valuation
</a:t>
            </a:r>
            <a:pPr indent="0" marL="0">
              <a:buNone/>
            </a:pPr>
            <a:r>
              <a:rPr lang="en-US" sz="14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23% pullback from highs makes entry more attractive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Price Targets &amp; Entry Strategy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1280160"/>
          </a:xfrm>
          <a:prstGeom prst="rect">
            <a:avLst/>
          </a:prstGeom>
          <a:solidFill>
            <a:srgbClr val="E8F1FF"/>
          </a:solidFill>
          <a:ln w="12700">
            <a:solidFill>
              <a:srgbClr val="0A5C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Bull Case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5C3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$800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+27%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280160"/>
            <a:ext cx="2560320" cy="1280160"/>
          </a:xfrm>
          <a:prstGeom prst="rect">
            <a:avLst/>
          </a:prstGeom>
          <a:solidFill>
            <a:srgbClr val="E8F1FF"/>
          </a:solidFill>
          <a:ln w="12700">
            <a:solidFill>
              <a:srgbClr val="236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Base Case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$750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+19%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280160"/>
            <a:ext cx="2560320" cy="1280160"/>
          </a:xfrm>
          <a:prstGeom prst="rect">
            <a:avLst/>
          </a:prstGeom>
          <a:solidFill>
            <a:srgbClr val="E8F1F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Bear Case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0" y="16459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$550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943600" y="21945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-13%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644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Entry Strategy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Immediate Entry: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Current levels ($629) represent reasonable entry point
</a:t>
            </a:r>
            <a:pPr indent="0" marL="0">
              <a:buNone/>
            </a:pPr>
            <a:r>
              <a:rPr lang="en-US" sz="1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Staged Entry: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Accumulate on further weakness toward $600
</a:t>
            </a:r>
            <a:pPr indent="0" marL="0">
              <a:buNone/>
            </a:pPr>
            <a:r>
              <a:rPr lang="en-US" sz="1400" b="1" dirty="0">
                <a:solidFill>
                  <a:srgbClr val="236C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Technical Entry: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Wait for RSI to turn higher from oversold conditions
</a:t>
            </a:r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Stop Loss: </a:t>
            </a:r>
            <a:pPr indent="0" marL="0">
              <a:buNone/>
            </a:pPr>
            <a:r>
              <a:rPr lang="en-US" sz="1400" dirty="0">
                <a:solidFill>
                  <a:srgbClr val="4A4A4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Below $520 (prior major support)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6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94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Strong moat from ecosystem effects and data advantages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94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Growth runway through AI, mid-market expansion, international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94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Solid financials: 15.6% revenue growth, 30.6% earnings growth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94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✓  </a:t>
            </a:r>
            <a:pPr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Capable management executing on multi-product strategy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94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↓  </a:t>
            </a:r>
            <a:pPr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Technical pullback creates better entry valuation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236C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Intuit is not cheap, but quality rarely is. For AI-powered financial services exposure, INTU remains one of the best franchises available.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6C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B8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Intuit Investment Point of View | January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F1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Power Prosperity Around the World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Intuit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Intuit Investment Point of View</dc:title>
  <dc:subject>INTU Stock Analysis - January 2026</dc:subject>
  <dc:creator>Intuit Investment Research</dc:creator>
  <cp:lastModifiedBy>Intuit Investment Research</cp:lastModifiedBy>
  <cp:revision>1</cp:revision>
  <dcterms:created xsi:type="dcterms:W3CDTF">2026-01-04T05:01:44Z</dcterms:created>
  <dcterms:modified xsi:type="dcterms:W3CDTF">2026-01-04T05:01:44Z</dcterms:modified>
</cp:coreProperties>
</file>