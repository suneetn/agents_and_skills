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640080"/>
          </a:xfrm>
          <a:prstGeom prst="rect">
            <a:avLst/>
          </a:prstGeom>
          <a:solidFill>
            <a:srgbClr val="0D26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Trade Desk (TTD)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4DB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Investment Point of View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Contrarian Opportunity or Falling Knife?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January 2026 | Research Analysis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Investment Rating: </a:t>
            </a:r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SPECULATIVE BUY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12-Month Price Target: </a:t>
            </a:r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$50-$65 (Current: $37.68) → 33-72% Upside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Stock down 62% YTD, trading near 52-week low at $37.68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Cheapest valuation ever: 20x forward P/E (historical avg: 80-100x)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Still growing 18% annually while industry grows 6-8%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Key risks: Amazon DSP expansion, management shakeup, Kokai rollout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Analyst consensus: $80+ price target (114% implied upside)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Numbers: A Tale of Two Stories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92608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42062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Metric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Value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Context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Stock Price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$37.68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-62% YTD (near 52-wk low)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Market Cap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$18.5B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Down from $60B peak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P/E (TTM)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42.8x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Cheapest in company history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Forward P/E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20x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Historical avg: 80-100x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Revenue (TTM)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$2.44B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+26% YoY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Net Income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$393M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+120% YoY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ROIC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25.7%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Up from 5% in 2022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36C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business is performing. The stock is not.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Why The Stock Crashed 62% in 2025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1. Amazon DSP Expansion: </a:t>
            </a:r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Amazon partnered with Netflix, other streamers. Marketers can bypass TTD entirely.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2. Management Shakeup: </a:t>
            </a:r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New COO, new CFO, multiple senior departures since March. Investors hate instability.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3. Kokai Platform Issues: </a:t>
            </a:r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AI platform rollout caused first revenue miss in 33 quarters.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4. Jefferies Downgrade: </a:t>
            </a:r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Cut to Hold at $40 in Dec 2025, triggering institutional selling.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"Amazon's DSP allows marketers to skip the trade desk altogether." — CFA Analysis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C38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Bull Thesis: Contrarian Opportunity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38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Cheapest Ever Valuation: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20x forward P/E vs 80-100x historical. "The cheapest this stock has been, arguably ever."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38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Still Gaining Market Share: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Growing 18% while ad industry grows 6-8%. Outpacing Google/YouTube.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38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ROIC Recovery: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Improved from 5% (2022) to 25.7% today. Business model is working.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38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No Conflict of Interest: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Only works with buy-side. Unlike Google/Meta/Amazon, no inventory to push.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38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CFA Price Target: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Parkev Tatevosian sees $60-65 by end of 2026 (50%+ upside).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"This is the cheapest you've been able to buy this stock going back several years." — Parkev CFA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Bear Thesis: Legitimate Risks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Amazon is Formidable: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First-party purchase data, Netflix deal, vertically integrated. Existential threat.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Walled Gardens Winning: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Google, Meta, Amazon control most digital ad spend. Open internet is shrinking.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Management Instability: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Too many C-suite changes in one year. New CFO is ex-VC, not operator.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Kokai Must Deliver: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If AI platform fails to gain traction, TTD loses tech edge.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Economic Sensitivity: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Ad budgets are first to be cut in recession.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"Investors are always skeptical when a management shakeup is so abrupt and so large." — CFA Analysis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Technical Analysis: Near Rock Bottom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029200" cy="22860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7373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Indicator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Value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Signal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Price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$37.68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Near 52-week low ($35.65)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1-Year Return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-62.49%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Brutal selloff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RSI (14)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58.68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Neutral (recovering)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MACD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Bullish crossover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Early positive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vs SMA 200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Below ($57.05)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Strong downtrend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Fibonacci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100% retracement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All gains erased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0" y="1188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Key Levels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669280" y="1554480"/>
            <a:ext cx="3017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38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Support:
</a:t>
            </a:r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$35.65 (52-wk low)
• $36.90 (S1)
</a:t>
            </a:r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Resistance:
</a:t>
            </a:r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$41.92 (50 SMA)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$57.05 (200 SMA)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$127.59 (52-wk high)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6C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Signal: HOLD with bullish MACD crossover. Watch $35 support.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Scenario Analysis: 2026 Price Targets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2560320"/>
          </a:xfrm>
          <a:prstGeom prst="rect">
            <a:avLst/>
          </a:prstGeom>
          <a:solidFill>
            <a:srgbClr val="E8F5E9"/>
          </a:solidFill>
          <a:ln w="12700">
            <a:solidFill>
              <a:srgbClr val="00C38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38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BULL CASE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38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$80-$100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25% probability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Kokai gains traction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Amazon fears overblown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CTV accelerates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P/E re-rates to 35-40x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51760" cy="2560320"/>
          </a:xfrm>
          <a:prstGeom prst="rect">
            <a:avLst/>
          </a:prstGeom>
          <a:solidFill>
            <a:srgbClr val="E8F1FF"/>
          </a:solidFill>
          <a:ln w="12700">
            <a:solidFill>
              <a:srgbClr val="236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234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6C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BASE CASE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46120" y="1600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36C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$50-$65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37560" y="210312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50% probability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15-20% revenue growth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Management stabilizes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P/E stays 20-25x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EPS progresses to $2.50+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651760" cy="2560320"/>
          </a:xfrm>
          <a:prstGeom prst="rect">
            <a:avLst/>
          </a:prstGeom>
          <a:solidFill>
            <a:srgbClr val="FFEBEE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234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BEAR CASE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35040" y="1600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B6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$25-$35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126480" y="210312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25% probability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Amazon takes share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Kokai fails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Mgmt turnover continues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Recession cuts budgets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8C8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Analyst consensus: $80 target = 114% upside from current price.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C38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CFA Price Target Analysis (2027 EPS: $2.46)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029200" cy="2011680"/>
        </p:xfrm>
        <a:graphic>
          <a:graphicData uri="http://schemas.openxmlformats.org/drawingml/2006/table">
            <a:tbl>
              <a:tblPr/>
              <a:tblGrid>
                <a:gridCol w="1828800"/>
                <a:gridCol w="1600200"/>
                <a:gridCol w="16002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Forward P/E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Price Target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Upside from $39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20x (current)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$49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+26%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25x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$62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+59%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30x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$74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+90%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35x (historical)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$86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+120%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0" y="1188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669280" y="155448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Even at current depressed valuation (20x forward), EPS progression alone could drive stock to $49.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If sentiment improves and P/E expands to historical 35x, stock could more than double.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36C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"I think Trade Desk stock trades for $60-$65 by end of 2026. That would be ~50% upside." — Parkev CFA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Investment Recommendation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SPECULATIVE BUY | High Risk / High Reward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Entry Strategy: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Current price acceptable for risk-tolerant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Scale in on dips to $35 support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Full position if holds 52-week low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1828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Position Sizing: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219456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Conservative: 1-2% max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Growth-oriented: 2-3%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NOT a core holding at this stage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Key Catalysts to Watch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66160"/>
          <a:ext cx="8229600" cy="64008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Feb 2026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Q1 2026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Throughout 2026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H2 2026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Q4 Earnings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CTV Upfronts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Management Updates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Economic Data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6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73152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6C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Verdict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Trade Desk is either a broken growth story being correctly de-rated, OR a quality company at a generational valuation.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business fundamentals (18% growth, 81% margins, 25.7% ROIC) are solid.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But competitive and execution risks are real.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At 20x forward P/E, the risk/reward is asymmetric to the upside.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Speculative Buy for Contrarians Willing to Bet Against the Crowd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Trade Desk (TTD) Investment POV</dc:title>
  <dc:subject>PptxGenJS Presentation</dc:subject>
  <dc:creator>Intuit Investment Research</dc:creator>
  <cp:lastModifiedBy>Intuit Investment Research</cp:lastModifiedBy>
  <cp:revision>1</cp:revision>
  <dcterms:created xsi:type="dcterms:W3CDTF">2026-01-04T06:29:27Z</dcterms:created>
  <dcterms:modified xsi:type="dcterms:W3CDTF">2026-01-04T06:29:27Z</dcterms:modified>
</cp:coreProperties>
</file>